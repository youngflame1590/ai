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fd21b4e38e41f1" /><Relationship Type="http://schemas.openxmlformats.org/officeDocument/2006/relationships/extended-properties" Target="/docProps/app.xml" Id="R036d2a8b02904cea" /><Relationship Type="http://schemas.openxmlformats.org/officeDocument/2006/relationships/officeDocument" Target="/ppt/presentation.xml" Id="Rcf2b3b78a5ee42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f337ff16c54d67"/>
  </p:sldMasterIdLst>
  <p:notesMasterIdLst>
    <p:notesMasterId xmlns:r="http://schemas.openxmlformats.org/officeDocument/2006/relationships" r:id="Rb20c67ea749248f1"/>
  </p:notesMasterIdLst>
  <p:sldIdLst>
    <p:sldId xmlns:r="http://schemas.openxmlformats.org/officeDocument/2006/relationships" id="256" r:id="R05cae4103e46453c"/>
    <p:sldId xmlns:r="http://schemas.openxmlformats.org/officeDocument/2006/relationships" id="257" r:id="Rf60e9e73d7304384"/>
    <p:sldId xmlns:r="http://schemas.openxmlformats.org/officeDocument/2006/relationships" id="258" r:id="Rb415fb9c3a054cfe"/>
    <p:sldId xmlns:r="http://schemas.openxmlformats.org/officeDocument/2006/relationships" id="259" r:id="R6e7be368abb54b5e"/>
    <p:sldId xmlns:r="http://schemas.openxmlformats.org/officeDocument/2006/relationships" id="260" r:id="R1b4e2b366eb7490b"/>
    <p:sldId xmlns:r="http://schemas.openxmlformats.org/officeDocument/2006/relationships" id="261" r:id="R9a83de2381104170"/>
    <p:sldId xmlns:r="http://schemas.openxmlformats.org/officeDocument/2006/relationships" id="262" r:id="R6c5e9c28d6584f5b"/>
    <p:sldId xmlns:r="http://schemas.openxmlformats.org/officeDocument/2006/relationships" id="263" r:id="R8a0bcd9cf2e842c1"/>
    <p:sldId xmlns:r="http://schemas.openxmlformats.org/officeDocument/2006/relationships" id="264" r:id="R75eb793a11e24c04"/>
    <p:sldId xmlns:r="http://schemas.openxmlformats.org/officeDocument/2006/relationships" id="265" r:id="R3039ea7baf3e48cd"/>
    <p:sldId xmlns:r="http://schemas.openxmlformats.org/officeDocument/2006/relationships" id="266" r:id="R9435cd45212745e2"/>
    <p:sldId xmlns:r="http://schemas.openxmlformats.org/officeDocument/2006/relationships" id="267" r:id="R35a96db502c5455d"/>
    <p:sldId xmlns:r="http://schemas.openxmlformats.org/officeDocument/2006/relationships" id="268" r:id="R0632f6f704354a13"/>
    <p:sldId xmlns:r="http://schemas.openxmlformats.org/officeDocument/2006/relationships" id="269" r:id="R24e7101185804f6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b62e7e1c2a4c24" /><Relationship Type="http://schemas.openxmlformats.org/officeDocument/2006/relationships/slideMaster" Target="/ppt/slideMasters/slideMaster1.xml" Id="R6cf337ff16c54d67" /><Relationship Type="http://schemas.openxmlformats.org/officeDocument/2006/relationships/notesMaster" Target="/ppt/notesMasters/notesMaster1.xml" Id="Rb20c67ea749248f1" /><Relationship Type="http://schemas.openxmlformats.org/officeDocument/2006/relationships/presProps" Target="/ppt/presProps.xml" Id="R0b7c051dfb46423e" /><Relationship Type="http://schemas.openxmlformats.org/officeDocument/2006/relationships/tableStyles" Target="/ppt/tableStyles.xml" Id="Rc48466c6b1f946c7" /><Relationship Type="http://schemas.openxmlformats.org/officeDocument/2006/relationships/slide" Target="/ppt/slides/slide1.xml" Id="R05cae4103e46453c" /><Relationship Type="http://schemas.openxmlformats.org/officeDocument/2006/relationships/slide" Target="/ppt/slides/slide2.xml" Id="Rf60e9e73d7304384" /><Relationship Type="http://schemas.openxmlformats.org/officeDocument/2006/relationships/slide" Target="/ppt/slides/slide3.xml" Id="Rb415fb9c3a054cfe" /><Relationship Type="http://schemas.openxmlformats.org/officeDocument/2006/relationships/slide" Target="/ppt/slides/slide4.xml" Id="R6e7be368abb54b5e" /><Relationship Type="http://schemas.openxmlformats.org/officeDocument/2006/relationships/slide" Target="/ppt/slides/slide5.xml" Id="R1b4e2b366eb7490b" /><Relationship Type="http://schemas.openxmlformats.org/officeDocument/2006/relationships/slide" Target="/ppt/slides/slide6.xml" Id="R9a83de2381104170" /><Relationship Type="http://schemas.openxmlformats.org/officeDocument/2006/relationships/slide" Target="/ppt/slides/slide7.xml" Id="R6c5e9c28d6584f5b" /><Relationship Type="http://schemas.openxmlformats.org/officeDocument/2006/relationships/slide" Target="/ppt/slides/slide8.xml" Id="R8a0bcd9cf2e842c1" /><Relationship Type="http://schemas.openxmlformats.org/officeDocument/2006/relationships/slide" Target="/ppt/slides/slide9.xml" Id="R75eb793a11e24c04" /><Relationship Type="http://schemas.openxmlformats.org/officeDocument/2006/relationships/slide" Target="/ppt/slides/slide10.xml" Id="R3039ea7baf3e48cd" /><Relationship Type="http://schemas.openxmlformats.org/officeDocument/2006/relationships/slide" Target="/ppt/slides/slide11.xml" Id="R9435cd45212745e2" /><Relationship Type="http://schemas.openxmlformats.org/officeDocument/2006/relationships/slide" Target="/ppt/slides/slide12.xml" Id="R35a96db502c5455d" /><Relationship Type="http://schemas.openxmlformats.org/officeDocument/2006/relationships/slide" Target="/ppt/slides/slide13.xml" Id="R0632f6f704354a13" /><Relationship Type="http://schemas.openxmlformats.org/officeDocument/2006/relationships/slide" Target="/ppt/slides/slide14.xml" Id="R24e7101185804f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0a0d1fc4e64e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b4cda8824843d4" /><Relationship Type="http://schemas.openxmlformats.org/officeDocument/2006/relationships/notesMaster" Target="/ppt/notesMasters/notesMaster1.xml" Id="R912a0d7249a94f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bb36b190c04d39" /><Relationship Type="http://schemas.openxmlformats.org/officeDocument/2006/relationships/notesMaster" Target="/ppt/notesMasters/notesMaster1.xml" Id="R53ef0059b20c47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42da9ae6094635" /><Relationship Type="http://schemas.openxmlformats.org/officeDocument/2006/relationships/notesMaster" Target="/ppt/notesMasters/notesMaster1.xml" Id="R112fde4e784147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42e34747f440bf" /><Relationship Type="http://schemas.openxmlformats.org/officeDocument/2006/relationships/notesMaster" Target="/ppt/notesMasters/notesMaster1.xml" Id="R80214c57aa2a4f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02e371c8e34e76" /><Relationship Type="http://schemas.openxmlformats.org/officeDocument/2006/relationships/notesMaster" Target="/ppt/notesMasters/notesMaster1.xml" Id="Rd1ec2facc12b49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c282c1dd0140c6" /><Relationship Type="http://schemas.openxmlformats.org/officeDocument/2006/relationships/notesMaster" Target="/ppt/notesMasters/notesMaster1.xml" Id="R2f990fdb99e045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c7b4be81674c89" /><Relationship Type="http://schemas.openxmlformats.org/officeDocument/2006/relationships/notesMaster" Target="/ppt/notesMasters/notesMaster1.xml" Id="R1df24b1f5b2140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36908ba59c430c" /><Relationship Type="http://schemas.openxmlformats.org/officeDocument/2006/relationships/notesMaster" Target="/ppt/notesMasters/notesMaster1.xml" Id="Rde59da042e3744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104b342130416a" /><Relationship Type="http://schemas.openxmlformats.org/officeDocument/2006/relationships/notesMaster" Target="/ppt/notesMasters/notesMaster1.xml" Id="R4756930e9cbe44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fe93c345b44cf0" /><Relationship Type="http://schemas.openxmlformats.org/officeDocument/2006/relationships/notesMaster" Target="/ppt/notesMasters/notesMaster1.xml" Id="R91feb2620af048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78da8fd51b4c00" /><Relationship Type="http://schemas.openxmlformats.org/officeDocument/2006/relationships/notesMaster" Target="/ppt/notesMasters/notesMaster1.xml" Id="Rcf8e0eeb8dde4f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10f77cbd974488" /><Relationship Type="http://schemas.openxmlformats.org/officeDocument/2006/relationships/notesMaster" Target="/ppt/notesMasters/notesMaster1.xml" Id="R2703f7f19ce54e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56272466124a54" /><Relationship Type="http://schemas.openxmlformats.org/officeDocument/2006/relationships/notesMaster" Target="/ppt/notesMasters/notesMaster1.xml" Id="R3f0b3315ee0e47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cd8b04267d340e6" /><Relationship Type="http://schemas.openxmlformats.org/officeDocument/2006/relationships/notesMaster" Target="/ppt/notesMasters/notesMaster1.xml" Id="R82847b2f5e1e4d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开场先说明项目不是单一应用演示，而是一次从需求到代码、测试和变更的完整软件工程实训。</a:t>
            </a:r>
          </a:p>
          <a:p xmlns:a="http://schemas.openxmlformats.org/drawingml/2006/main">
            <a:r>
              <a:t>强调答辩主线：AI辅助方法如何落到图文快印连锁门店业务，并用可追溯证据验证。</a:t>
            </a:r>
          </a:p>
          <a:p xmlns:a="http://schemas.openxmlformats.org/drawingml/2006/main">
            <a:r>
              <a:t>个人信息处保留填写栏，现场可按学校要求补齐。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这一页把老师的预期先对齐：不是按文件目录逐项念，而是按软件开发链路讲。</a:t>
            </a:r>
          </a:p>
          <a:p xmlns:a="http://schemas.openxmlformats.org/drawingml/2006/main">
            <a:r>
              <a:t>后面每一部分都会对应具体证据：需求产物、代码实现、测试结果和反思结论。</a:t>
            </a:r>
          </a:p>
          <a:p xmlns:a="http://schemas.openxmlformats.org/drawingml/2006/main">
            <a:r>
              <a:t>8到10分钟内，重点放在方法是否有效以及系统是否真实可运行。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先用业务语言说明项目：快印业务涉及文件、报价、生产和配送，不只是一个订单表。</a:t>
            </a:r>
          </a:p>
          <a:p xmlns:a="http://schemas.openxmlformats.org/drawingml/2006/main">
            <a:r>
              <a:t>七类角色对应后续的涉众智能体，也对应系统里的权限和工作台视角。</a:t>
            </a:r>
          </a:p>
          <a:p xmlns:a="http://schemas.openxmlformats.org/drawingml/2006/main">
            <a:r>
              <a:t>目标是用软件工程方法把这些业务事实变成需求、设计、代码和测试。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这里说明 AI 的角色边界：它帮助组织访谈、发现问题和生成候选文档，但不自动代表真实用户。</a:t>
            </a:r>
          </a:p>
          <a:p xmlns:a="http://schemas.openxmlformats.org/drawingml/2006/main">
            <a:r>
              <a:t>A1到A6形成从获取到基线的闭环，后续架构和代码都必须能回到这些需求证据。</a:t>
            </a:r>
          </a:p>
          <a:p xmlns:a="http://schemas.openxmlformats.org/drawingml/2006/main">
            <a:r>
              <a:t>这也是我后面反思的重点：AI辅助流程有效，但必须有人工门禁。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这一页用于回答老师可能问的：你的工作如何证明不是散乱产物？</a:t>
            </a:r>
          </a:p>
          <a:p xmlns:a="http://schemas.openxmlformats.org/drawingml/2006/main">
            <a:r>
              <a:t>我把证据链分成需求、设计、接口、实现和验证，每个环节都有仓库路径。</a:t>
            </a:r>
          </a:p>
          <a:p xmlns:a="http://schemas.openxmlformats.org/drawingml/2006/main">
            <a:r>
              <a:t>如果现场需要展示，可以打开对应目录说明每类产物的作用。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架构分两侧讲：左侧是支持需求工程的智能体和知识库平台，右侧是生成后的 Print MIS 业务系统。</a:t>
            </a:r>
          </a:p>
          <a:p xmlns:a="http://schemas.openxmlformats.org/drawingml/2006/main">
            <a:r>
              <a:t>中间的 TLCD、OpenAPI、ADR 是桥梁，防止需求报告和代码实现脱节。</a:t>
            </a:r>
          </a:p>
          <a:p xmlns:a="http://schemas.openxmlformats.org/drawingml/2006/main">
            <a:r>
              <a:t>实际实现采用模块化单体而非复杂微服务，符合课程规模和演示稳定性。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 的意义是先证明系统可以跑通完整业务闭环，而不是只生成后端接口。</a:t>
            </a:r>
          </a:p>
          <a:p xmlns:a="http://schemas.openxmlformats.org/drawingml/2006/main">
            <a:r>
              <a:t>模块覆盖订单到财务和审计，角色权限也贯穿前后端。</a:t>
            </a:r>
          </a:p>
          <a:p xmlns:a="http://schemas.openxmlformats.org/drawingml/2006/main">
            <a:r>
              <a:t>这为 v2 的增量变更提供了稳定基线。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v2 不是重做系统，而是围绕 CR-001 做真实的需求变更管理。</a:t>
            </a:r>
          </a:p>
          <a:p xmlns:a="http://schemas.openxmlformats.org/drawingml/2006/main">
            <a:r>
              <a:t>变更冻结是为了避免生产中订单被直接覆盖，体现业务规则和数据安全。</a:t>
            </a:r>
          </a:p>
          <a:p xmlns:a="http://schemas.openxmlformats.org/drawingml/2006/main">
            <a:r>
              <a:t>多门店、账号、文件等完善项都是在这个基线之上逐步加进去的。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这里讲最近完善的流程：新增订单不再先填表，而是先上传文件生成订单。</a:t>
            </a:r>
          </a:p>
          <a:p xmlns:a="http://schemas.openxmlformats.org/drawingml/2006/main">
            <a:r>
              <a:t>后端在同一事务中建单、保存文件并做分析，失败时避免留下无效订单。</a:t>
            </a:r>
          </a:p>
          <a:p xmlns:a="http://schemas.openxmlformats.org/drawingml/2006/main">
            <a:r>
              <a:t>解析失败不会阻止上传，但不会随便猜页数，仍要求人工确认。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这一页不要只说通过了测试，而要说明测试覆盖哪些风险。</a:t>
            </a:r>
          </a:p>
          <a:p xmlns:a="http://schemas.openxmlformats.org/drawingml/2006/main">
            <a:r>
              <a:t>Maven、打包、JS语法、CRR 都是可重复执行的命令，不是主观描述。</a:t>
            </a:r>
          </a:p>
          <a:p xmlns:a="http://schemas.openxmlformats.org/drawingml/2006/main">
            <a:r>
              <a:t>浏览器验收补足了自动测试没有覆盖的界面和运行实例问题。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这页可以作为老师检查提交完整性的入口。</a:t>
            </a:r>
          </a:p>
          <a:p xmlns:a="http://schemas.openxmlformats.org/drawingml/2006/main">
            <a:r>
              <a:t>注意不要把每个文件都展开，只说明不同产物在软件开发链路中的位置。</a:t>
            </a:r>
          </a:p>
          <a:p xmlns:a="http://schemas.openxmlformats.org/drawingml/2006/main">
            <a:r>
              <a:t>如果被追问证据路径，可以回到 Obsidian vault、generated-code 和项目提交文档目录。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这是批判性反思的核心页：既承认 AI 的效率，也指出不能把生成结果等同于事实。</a:t>
            </a:r>
          </a:p>
          <a:p xmlns:a="http://schemas.openxmlformats.org/drawingml/2006/main">
            <a:r>
              <a:t>结合项目中的真实例子：产物索引滞后、TLCD理想与实现差距、RCR过度乐观、CRR误报。</a:t>
            </a:r>
          </a:p>
          <a:p xmlns:a="http://schemas.openxmlformats.org/drawingml/2006/main">
            <a:r>
              <a:t>答辩时语气要平衡，重点是说明我知道哪里需要人工把关。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这页回答如果重新做一次会怎么改。</a:t>
            </a:r>
          </a:p>
          <a:p xmlns:a="http://schemas.openxmlformats.org/drawingml/2006/main">
            <a:r>
              <a:t>核心不是换一个更强模型，而是把证据、契约、测试和人工门禁前移。</a:t>
            </a:r>
          </a:p>
          <a:p xmlns:a="http://schemas.openxmlformats.org/drawingml/2006/main">
            <a:r>
              <a:t>后续还要补非功能测试，尤其是上传文件、安全和真实数据库场景。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最后收束到三个关键词：方法、系统、验证。</a:t>
            </a:r>
          </a:p>
          <a:p xmlns:a="http://schemas.openxmlformats.org/drawingml/2006/main">
            <a:r>
              <a:t>强调本次实训最大的收获是学会把 AI 输出放进工程证据链，而不是盲目信任。</a:t>
            </a:r>
          </a:p>
          <a:p xmlns:a="http://schemas.openxmlformats.org/drawingml/2006/main">
            <a:r>
              <a:t>结束后主动欢迎老师提问，可以从需求、架构、v2变更或反思任一角度展开。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71fddd4964a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e0222ca53c4f44" /><Relationship Type="http://schemas.openxmlformats.org/officeDocument/2006/relationships/slideLayout" Target="/ppt/slideLayouts/slideLayout1.xml" Id="Rad6b2e81dc8b4d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6b2e81dc8b4d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89f3d21b74946" /><Relationship Type="http://schemas.openxmlformats.org/officeDocument/2006/relationships/notesSlide" Target="/ppt/notesSlides/notesSlide1.xml" Id="R67ab45b5623946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20daf580a46e7" /><Relationship Type="http://schemas.openxmlformats.org/officeDocument/2006/relationships/notesSlide" Target="/ppt/notesSlides/notesSlide2.xml" Id="Rae28d15d64ab42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d34c1164545f7" /><Relationship Type="http://schemas.openxmlformats.org/officeDocument/2006/relationships/notesSlide" Target="/ppt/notesSlides/notesSlide3.xml" Id="Rb5d7e047eda645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176ab96f04646" /><Relationship Type="http://schemas.openxmlformats.org/officeDocument/2006/relationships/notesSlide" Target="/ppt/notesSlides/notesSlide4.xml" Id="R8bae56f0ab1c4f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594ac3c8f4f25" /><Relationship Type="http://schemas.openxmlformats.org/officeDocument/2006/relationships/notesSlide" Target="/ppt/notesSlides/notesSlide5.xml" Id="R2736d6c9911046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33da5b1204b5a" /><Relationship Type="http://schemas.openxmlformats.org/officeDocument/2006/relationships/notesSlide" Target="/ppt/notesSlides/notesSlide6.xml" Id="R158e7410574d4d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5e664a0c94ada" /><Relationship Type="http://schemas.openxmlformats.org/officeDocument/2006/relationships/notesSlide" Target="/ppt/notesSlides/notesSlide7.xml" Id="Rd39af59aa5c442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b495cdc794271" /><Relationship Type="http://schemas.openxmlformats.org/officeDocument/2006/relationships/notesSlide" Target="/ppt/notesSlides/notesSlide8.xml" Id="R4aea3c3f8b9d43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951ae1f434bfd" /><Relationship Type="http://schemas.openxmlformats.org/officeDocument/2006/relationships/notesSlide" Target="/ppt/notesSlides/notesSlide9.xml" Id="Rdc7b20c086df4b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cb25565fd4634" /><Relationship Type="http://schemas.openxmlformats.org/officeDocument/2006/relationships/notesSlide" Target="/ppt/notesSlides/notesSlide10.xml" Id="R57c6c8b666cc41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f3012a2034325" /><Relationship Type="http://schemas.openxmlformats.org/officeDocument/2006/relationships/notesSlide" Target="/ppt/notesSlides/notesSlide11.xml" Id="Rba9d514492b646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7012ba1694b13" /><Relationship Type="http://schemas.openxmlformats.org/officeDocument/2006/relationships/notesSlide" Target="/ppt/notesSlides/notesSlide12.xml" Id="R4518b88ced5d49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3cf75b3f84638" /><Relationship Type="http://schemas.openxmlformats.org/officeDocument/2006/relationships/notesSlide" Target="/ppt/notesSlides/notesSlide13.xml" Id="Re498db03142d4c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9aa1d456f4249" /><Relationship Type="http://schemas.openxmlformats.org/officeDocument/2006/relationships/notesSlide" Target="/ppt/notesSlides/notesSlide14.xml" Id="R03c5be8e607348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EC5BF92-1BBC-4284-AF3E-DDEC2D1A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图文快印门店连锁管理系统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AD8EEA6-4E60-4A77-9B24-D07B0305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Print MIS 答辩汇报</a:t>
            </a:r>
          </a:p>
        </p:txBody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54B981C-EFE7-431C-88FA-55587278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AI辅助需求工程 · 代码生成 · 变更管理 · 批判性反思</a:t>
            </a:r>
          </a:p>
        </p:txBody>
      </p:sp>
      <p:sp>
        <p:nvSpPr>
          <p:cNvPr id="4" name="cover-block">
            <a:extLst xmlns:a="http://schemas.openxmlformats.org/drawingml/2006/main">
              <a:ext uri="{FF2B5EF4-FFF2-40B4-BE49-F238E27FC236}">
                <a16:creationId xmlns:a16="http://schemas.microsoft.com/office/drawing/2014/main" id="{00260617-D2B9-4912-BF72-4AADE810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819150"/>
            <a:ext cx="2857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5" name="cover-codes">
            <a:extLst xmlns:a="http://schemas.openxmlformats.org/drawingml/2006/main">
              <a:ext uri="{FF2B5EF4-FFF2-40B4-BE49-F238E27FC236}">
                <a16:creationId xmlns:a16="http://schemas.microsoft.com/office/drawing/2014/main" id="{9C47F8A4-8A13-462F-8F98-551F005A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066800"/>
            <a:ext cx="22479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A1-A6</a:t>
            </a:r>
          </a:p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TLCD</a:t>
            </a:r>
          </a:p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RCR / CRR</a:t>
            </a:r>
          </a:p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v2</a:t>
            </a:r>
          </a:p>
        </p:txBody>
      </p:sp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8505294E-2980-4A1B-9DCE-3DE55472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19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fields">
            <a:extLst xmlns:a="http://schemas.openxmlformats.org/drawingml/2006/main">
              <a:ext uri="{FF2B5EF4-FFF2-40B4-BE49-F238E27FC236}">
                <a16:creationId xmlns:a16="http://schemas.microsoft.com/office/drawing/2014/main" id="{822E4B56-72C0-41C3-B4EC-593574FD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姓名：________________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学号：________________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班级：________________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课程：________________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指导教师：____________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日期：2026年6月29日</a:t>
            </a:r>
          </a:p>
        </p:txBody>
      </p:sp>
      <p:sp>
        <p:nvSpPr>
          <p:cNvPr id="8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EB96BF10-C4E8-49FB-BBFA-3F42D59A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综合实训答辩</a:t>
            </a:r>
          </a:p>
        </p:txBody>
      </p:sp>
      <p:sp>
        <p:nvSpPr>
          <p:cNvPr id="9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31D36232-287E-45C2-9A68-68667872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18803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EADB0AB6-0EA6-489A-BC34-35776B1A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汇报结构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4B9C41C-5F89-42C1-AFDE-CFF5F9C4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答辩路线：从方法到证据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172BB1E9-6454-4504-90E0-BB9BF4E8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2A0D68CC-0A72-43C6-9D30-3038213D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图文快印 Print MIS | AI辅助软件开发实训</a:t>
            </a:r>
          </a:p>
        </p:txBody>
      </p:sp>
      <p:sp>
        <p:nvSpPr>
          <p:cNvPr id="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1065CD16-6EAA-4A4D-BFF0-2FE09331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agenda-num-01">
            <a:extLst xmlns:a="http://schemas.openxmlformats.org/drawingml/2006/main">
              <a:ext uri="{FF2B5EF4-FFF2-40B4-BE49-F238E27FC236}">
                <a16:creationId xmlns:a16="http://schemas.microsoft.com/office/drawing/2014/main" id="{4C78BFEA-4B91-466F-9F0A-C4A99827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-title-01">
            <a:extLst xmlns:a="http://schemas.openxmlformats.org/drawingml/2006/main">
              <a:ext uri="{FF2B5EF4-FFF2-40B4-BE49-F238E27FC236}">
                <a16:creationId xmlns:a16="http://schemas.microsoft.com/office/drawing/2014/main" id="{4AB9FC80-892A-4BEC-AF38-DD13CCB0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71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背景与目标</a:t>
            </a:r>
          </a:p>
        </p:txBody>
      </p:sp>
      <p:sp>
        <p:nvSpPr>
          <p:cNvPr id="8" name="agenda-desc-01">
            <a:extLst xmlns:a="http://schemas.openxmlformats.org/drawingml/2006/main">
              <a:ext uri="{FF2B5EF4-FFF2-40B4-BE49-F238E27FC236}">
                <a16:creationId xmlns:a16="http://schemas.microsoft.com/office/drawing/2014/main" id="{FD40C4B2-8E9F-4106-9A70-FB343278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为什么选择图文快印 Print MIS</a:t>
            </a:r>
          </a:p>
        </p:txBody>
      </p:sp>
      <p:sp>
        <p:nvSpPr>
          <p:cNvPr id="9" name="agenda-line-01">
            <a:extLst xmlns:a="http://schemas.openxmlformats.org/drawingml/2006/main">
              <a:ext uri="{FF2B5EF4-FFF2-40B4-BE49-F238E27FC236}">
                <a16:creationId xmlns:a16="http://schemas.microsoft.com/office/drawing/2014/main" id="{C70DF332-8A98-4953-B855-A6F08CC0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genda-num-02">
            <a:extLst xmlns:a="http://schemas.openxmlformats.org/drawingml/2006/main">
              <a:ext uri="{FF2B5EF4-FFF2-40B4-BE49-F238E27FC236}">
                <a16:creationId xmlns:a16="http://schemas.microsoft.com/office/drawing/2014/main" id="{6C331A9E-CABD-4966-B332-0FCECE86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-title-02">
            <a:extLst xmlns:a="http://schemas.openxmlformats.org/drawingml/2006/main">
              <a:ext uri="{FF2B5EF4-FFF2-40B4-BE49-F238E27FC236}">
                <a16:creationId xmlns:a16="http://schemas.microsoft.com/office/drawing/2014/main" id="{6950719B-8EDF-4241-94B1-5ED70D51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52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AI辅助流程</a:t>
            </a:r>
          </a:p>
        </p:txBody>
      </p:sp>
      <p:sp>
        <p:nvSpPr>
          <p:cNvPr id="12" name="agenda-desc-02">
            <a:extLst xmlns:a="http://schemas.openxmlformats.org/drawingml/2006/main">
              <a:ext uri="{FF2B5EF4-FFF2-40B4-BE49-F238E27FC236}">
                <a16:creationId xmlns:a16="http://schemas.microsoft.com/office/drawing/2014/main" id="{678D1531-4B8F-4224-ABC7-ACC6635C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七类涉众智能体与 A1-A6 需求工程</a:t>
            </a:r>
          </a:p>
        </p:txBody>
      </p:sp>
      <p:sp>
        <p:nvSpPr>
          <p:cNvPr id="13" name="agenda-line-02">
            <a:extLst xmlns:a="http://schemas.openxmlformats.org/drawingml/2006/main">
              <a:ext uri="{FF2B5EF4-FFF2-40B4-BE49-F238E27FC236}">
                <a16:creationId xmlns:a16="http://schemas.microsoft.com/office/drawing/2014/main" id="{9C498F61-688A-4CEC-9D38-00E74950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genda-num-03">
            <a:extLst xmlns:a="http://schemas.openxmlformats.org/drawingml/2006/main">
              <a:ext uri="{FF2B5EF4-FFF2-40B4-BE49-F238E27FC236}">
                <a16:creationId xmlns:a16="http://schemas.microsoft.com/office/drawing/2014/main" id="{A951CE3E-C399-4867-BE79-04CFEDB1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-title-03">
            <a:extLst xmlns:a="http://schemas.openxmlformats.org/drawingml/2006/main">
              <a:ext uri="{FF2B5EF4-FFF2-40B4-BE49-F238E27FC236}">
                <a16:creationId xmlns:a16="http://schemas.microsoft.com/office/drawing/2014/main" id="{E95203C5-0A40-40AE-BDB9-13B8655A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33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系统实现</a:t>
            </a:r>
          </a:p>
        </p:txBody>
      </p:sp>
      <p:sp>
        <p:nvSpPr>
          <p:cNvPr id="16" name="agenda-desc-03">
            <a:extLst xmlns:a="http://schemas.openxmlformats.org/drawingml/2006/main">
              <a:ext uri="{FF2B5EF4-FFF2-40B4-BE49-F238E27FC236}">
                <a16:creationId xmlns:a16="http://schemas.microsoft.com/office/drawing/2014/main" id="{457F9C50-4E3E-4728-940B-F1141B0F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v1 业务闭环与 v2 变更/文件能力</a:t>
            </a:r>
          </a:p>
        </p:txBody>
      </p:sp>
      <p:sp>
        <p:nvSpPr>
          <p:cNvPr id="17" name="agenda-line-03">
            <a:extLst xmlns:a="http://schemas.openxmlformats.org/drawingml/2006/main">
              <a:ext uri="{FF2B5EF4-FFF2-40B4-BE49-F238E27FC236}">
                <a16:creationId xmlns:a16="http://schemas.microsoft.com/office/drawing/2014/main" id="{9EA2B959-7367-47F2-91F6-092EF6EA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genda-num-04">
            <a:extLst xmlns:a="http://schemas.openxmlformats.org/drawingml/2006/main">
              <a:ext uri="{FF2B5EF4-FFF2-40B4-BE49-F238E27FC236}">
                <a16:creationId xmlns:a16="http://schemas.microsoft.com/office/drawing/2014/main" id="{618F1B1C-9C8E-47C9-ABB4-53B83555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-title-04">
            <a:extLst xmlns:a="http://schemas.openxmlformats.org/drawingml/2006/main">
              <a:ext uri="{FF2B5EF4-FFF2-40B4-BE49-F238E27FC236}">
                <a16:creationId xmlns:a16="http://schemas.microsoft.com/office/drawing/2014/main" id="{BD1058C4-2217-40B9-9923-CD50370C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14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验证证据</a:t>
            </a:r>
          </a:p>
        </p:txBody>
      </p:sp>
      <p:sp>
        <p:nvSpPr>
          <p:cNvPr id="20" name="agenda-desc-04">
            <a:extLst xmlns:a="http://schemas.openxmlformats.org/drawingml/2006/main">
              <a:ext uri="{FF2B5EF4-FFF2-40B4-BE49-F238E27FC236}">
                <a16:creationId xmlns:a16="http://schemas.microsoft.com/office/drawing/2014/main" id="{38B5B0E4-6C17-41F4-91C0-E05304B8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测试、RCR、CRR 和实际运行验收</a:t>
            </a:r>
          </a:p>
        </p:txBody>
      </p:sp>
      <p:sp>
        <p:nvSpPr>
          <p:cNvPr id="21" name="agenda-line-04">
            <a:extLst xmlns:a="http://schemas.openxmlformats.org/drawingml/2006/main">
              <a:ext uri="{FF2B5EF4-FFF2-40B4-BE49-F238E27FC236}">
                <a16:creationId xmlns:a16="http://schemas.microsoft.com/office/drawing/2014/main" id="{2A7E1AE3-7CB6-4832-BEE3-35CB8725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genda-num-05">
            <a:extLst xmlns:a="http://schemas.openxmlformats.org/drawingml/2006/main">
              <a:ext uri="{FF2B5EF4-FFF2-40B4-BE49-F238E27FC236}">
                <a16:creationId xmlns:a16="http://schemas.microsoft.com/office/drawing/2014/main" id="{DF541FA0-20FB-43DB-8AC7-53516643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-title-05">
            <a:extLst xmlns:a="http://schemas.openxmlformats.org/drawingml/2006/main">
              <a:ext uri="{FF2B5EF4-FFF2-40B4-BE49-F238E27FC236}">
                <a16:creationId xmlns:a16="http://schemas.microsoft.com/office/drawing/2014/main" id="{13F36AB0-A1A0-494F-8B88-E926FCB0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95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批判性反思</a:t>
            </a:r>
          </a:p>
        </p:txBody>
      </p:sp>
      <p:sp>
        <p:nvSpPr>
          <p:cNvPr id="24" name="agenda-desc-05">
            <a:extLst xmlns:a="http://schemas.openxmlformats.org/drawingml/2006/main">
              <a:ext uri="{FF2B5EF4-FFF2-40B4-BE49-F238E27FC236}">
                <a16:creationId xmlns:a16="http://schemas.microsoft.com/office/drawing/2014/main" id="{7EF428A9-8D0F-4BEE-A410-010251DA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AI有效性、局限与改进方向</a:t>
            </a:r>
          </a:p>
        </p:txBody>
      </p:sp>
      <p:sp>
        <p:nvSpPr>
          <p:cNvPr id="25" name="agenda-line-05">
            <a:extLst xmlns:a="http://schemas.openxmlformats.org/drawingml/2006/main">
              <a:ext uri="{FF2B5EF4-FFF2-40B4-BE49-F238E27FC236}">
                <a16:creationId xmlns:a16="http://schemas.microsoft.com/office/drawing/2014/main" id="{0C6FB75B-0126-4DAE-8D66-1EDB8409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812994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F46D9F5F-35C1-4AAB-91C1-C928BE48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业务问题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3FFF1C7-FED2-4AFD-BCEC-53A1F59D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项目背景：连锁快印需要业务闭环</a:t>
            </a:r>
          </a:p>
        </p:txBody>
      </p:sp>
      <p:sp>
        <p:nvSpPr>
          <p:cNvPr id="3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D49612A4-EAD7-4B6A-9A64-55D35510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0655FCCD-FE53-4C0C-AA4E-6C5098EE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图文快印 Print MIS | AI辅助软件开发实训</a:t>
            </a:r>
          </a:p>
        </p:txBody>
      </p:sp>
      <p:sp>
        <p:nvSpPr>
          <p:cNvPr id="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8C0B96F6-3713-4DEE-98A5-B3A9B283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bg-thesis">
            <a:extLst xmlns:a="http://schemas.openxmlformats.org/drawingml/2006/main">
              <a:ext uri="{FF2B5EF4-FFF2-40B4-BE49-F238E27FC236}">
                <a16:creationId xmlns:a16="http://schemas.microsoft.com/office/drawing/2014/main" id="{5A5D0096-5921-424D-9672-044DA3BA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04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图文快印门店的难点不在单次下单，而在跨角色、跨门店、跨状态的协同。</a:t>
            </a:r>
          </a:p>
        </p:txBody>
      </p:sp>
      <p:sp>
        <p:nvSpPr>
          <p:cNvPr id="7" name="bg-bullets">
            <a:extLst xmlns:a="http://schemas.openxmlformats.org/drawingml/2006/main">
              <a:ext uri="{FF2B5EF4-FFF2-40B4-BE49-F238E27FC236}">
                <a16:creationId xmlns:a16="http://schemas.microsoft.com/office/drawing/2014/main" id="{3C9F2F33-74D7-4543-82E8-2AB8FD1F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657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客户侧需要清晰下单、上传文件、变更与进度反馈。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门店侧要处理报价、作业单、生产、库存和配送。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总部侧关注跨店权限、财务、报表和审计追溯。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系统目标是把流程、数据和责任边界落到可运行软件。</a:t>
            </a:r>
          </a:p>
        </p:txBody>
      </p:sp>
      <p:sp>
        <p:nvSpPr>
          <p:cNvPr id="8" name="metric-bg-核心角色">
            <a:extLst xmlns:a="http://schemas.openxmlformats.org/drawingml/2006/main">
              <a:ext uri="{FF2B5EF4-FFF2-40B4-BE49-F238E27FC236}">
                <a16:creationId xmlns:a16="http://schemas.microsoft.com/office/drawing/2014/main" id="{06A601E4-B60D-4154-B8C9-91527E4F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9" name="metric-accent-核心角色">
            <a:extLst xmlns:a="http://schemas.openxmlformats.org/drawingml/2006/main">
              <a:ext uri="{FF2B5EF4-FFF2-40B4-BE49-F238E27FC236}">
                <a16:creationId xmlns:a16="http://schemas.microsoft.com/office/drawing/2014/main" id="{FB0710C3-D5E0-4851-9C65-063E7F2B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stat-核心角色">
            <a:extLst xmlns:a="http://schemas.openxmlformats.org/drawingml/2006/main">
              <a:ext uri="{FF2B5EF4-FFF2-40B4-BE49-F238E27FC236}">
                <a16:creationId xmlns:a16="http://schemas.microsoft.com/office/drawing/2014/main" id="{124A2540-2B43-4D47-A5D7-F9AE8FA4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8120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7类</a:t>
            </a:r>
          </a:p>
        </p:txBody>
      </p:sp>
      <p:sp>
        <p:nvSpPr>
          <p:cNvPr id="11" name="metric-label-核心角色">
            <a:extLst xmlns:a="http://schemas.openxmlformats.org/drawingml/2006/main">
              <a:ext uri="{FF2B5EF4-FFF2-40B4-BE49-F238E27FC236}">
                <a16:creationId xmlns:a16="http://schemas.microsoft.com/office/drawing/2014/main" id="{A61EB1F4-6F1E-4CF2-AE2B-985C4DAF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098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核心角色</a:t>
            </a:r>
          </a:p>
        </p:txBody>
      </p:sp>
      <p:sp>
        <p:nvSpPr>
          <p:cNvPr id="12" name="metric-note-核心角色">
            <a:extLst xmlns:a="http://schemas.openxmlformats.org/drawingml/2006/main">
              <a:ext uri="{FF2B5EF4-FFF2-40B4-BE49-F238E27FC236}">
                <a16:creationId xmlns:a16="http://schemas.microsoft.com/office/drawing/2014/main" id="{40838BB9-3B32-40A8-9C7E-E392961F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客户、门店、总部与支撑角色</a:t>
            </a:r>
          </a:p>
        </p:txBody>
      </p:sp>
      <p:sp>
        <p:nvSpPr>
          <p:cNvPr id="13" name="metric-bg-开发对象">
            <a:extLst xmlns:a="http://schemas.openxmlformats.org/drawingml/2006/main">
              <a:ext uri="{FF2B5EF4-FFF2-40B4-BE49-F238E27FC236}">
                <a16:creationId xmlns:a16="http://schemas.microsoft.com/office/drawing/2014/main" id="{95E46593-FEDE-4BC9-B8AD-338FFD3E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814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4" name="metric-accent-开发对象">
            <a:extLst xmlns:a="http://schemas.openxmlformats.org/drawingml/2006/main">
              <a:ext uri="{FF2B5EF4-FFF2-40B4-BE49-F238E27FC236}">
                <a16:creationId xmlns:a16="http://schemas.microsoft.com/office/drawing/2014/main" id="{E94B1701-6DC4-4542-BA03-5AD53BAD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814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ric-stat-开发对象">
            <a:extLst xmlns:a="http://schemas.openxmlformats.org/drawingml/2006/main">
              <a:ext uri="{FF2B5EF4-FFF2-40B4-BE49-F238E27FC236}">
                <a16:creationId xmlns:a16="http://schemas.microsoft.com/office/drawing/2014/main" id="{032EA246-69B1-47FF-8DBD-F104DB0F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909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Print MIS</a:t>
            </a:r>
          </a:p>
        </p:txBody>
      </p:sp>
      <p:sp>
        <p:nvSpPr>
          <p:cNvPr id="16" name="metric-label-开发对象">
            <a:extLst xmlns:a="http://schemas.openxmlformats.org/drawingml/2006/main">
              <a:ext uri="{FF2B5EF4-FFF2-40B4-BE49-F238E27FC236}">
                <a16:creationId xmlns:a16="http://schemas.microsoft.com/office/drawing/2014/main" id="{E3EA08BA-CD2E-4F2C-846F-405BC79F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96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开发对象</a:t>
            </a:r>
          </a:p>
        </p:txBody>
      </p:sp>
      <p:sp>
        <p:nvSpPr>
          <p:cNvPr id="17" name="metric-note-开发对象">
            <a:extLst xmlns:a="http://schemas.openxmlformats.org/drawingml/2006/main">
              <a:ext uri="{FF2B5EF4-FFF2-40B4-BE49-F238E27FC236}">
                <a16:creationId xmlns:a16="http://schemas.microsoft.com/office/drawing/2014/main" id="{60E941BC-2AA7-49F1-B849-26E9F85D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244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围绕订单全生命周期管理</a:t>
            </a:r>
          </a:p>
        </p:txBody>
      </p:sp>
    </p:spTree>
    <p:extLst>
      <p:ext uri="{BB962C8B-B14F-4D97-AF65-F5344CB8AC3E}">
        <p14:creationId xmlns:p14="http://schemas.microsoft.com/office/powerpoint/2010/main" val="18870236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A795503C-8A25-4E76-B50C-D452D13E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需求工程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59F1238-F49B-40A1-832D-147854EC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方法总览：AI协同但不替代工程判断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DEA7F4DB-78B5-4C1A-9DAA-B48AE906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7D90A8D8-AD62-481B-8E07-5AE72447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图文快印 Print MIS | AI辅助软件开发实训</a:t>
            </a:r>
          </a:p>
        </p:txBody>
      </p:sp>
      <p:sp>
        <p:nvSpPr>
          <p:cNvPr id="5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66B9748B-B6A5-4134-985C-56E4CDE1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stage-box-1">
            <a:extLst xmlns:a="http://schemas.openxmlformats.org/drawingml/2006/main">
              <a:ext uri="{FF2B5EF4-FFF2-40B4-BE49-F238E27FC236}">
                <a16:creationId xmlns:a16="http://schemas.microsoft.com/office/drawing/2014/main" id="{ECAAA751-FCF9-4049-93A2-352DE46F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524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7" name="stage-num-1">
            <a:extLst xmlns:a="http://schemas.openxmlformats.org/drawingml/2006/main">
              <a:ext uri="{FF2B5EF4-FFF2-40B4-BE49-F238E27FC236}">
                <a16:creationId xmlns:a16="http://schemas.microsoft.com/office/drawing/2014/main" id="{0ED7D62D-DD96-4E79-BC30-0FEED835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B324E2C6-55F4-4314-B8EE-B50E35BC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需求获取</a:t>
            </a:r>
          </a:p>
        </p:txBody>
      </p:sp>
      <p:sp>
        <p:nvSpPr>
          <p:cNvPr id="9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FC0B7499-6A59-4F4B-9339-15C8B30D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11811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A1：七类涉众角色表达目标、痛点与异常场景</a:t>
            </a:r>
          </a:p>
        </p:txBody>
      </p:sp>
      <p:sp>
        <p:nvSpPr>
          <p:cNvPr id="10" name="stage-box-2">
            <a:extLst xmlns:a="http://schemas.openxmlformats.org/drawingml/2006/main">
              <a:ext uri="{FF2B5EF4-FFF2-40B4-BE49-F238E27FC236}">
                <a16:creationId xmlns:a16="http://schemas.microsoft.com/office/drawing/2014/main" id="{ABDA9F1A-1DB7-4F92-A03C-D67083F4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00250"/>
            <a:ext cx="1524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1" name="stage-num-2">
            <a:extLst xmlns:a="http://schemas.openxmlformats.org/drawingml/2006/main">
              <a:ext uri="{FF2B5EF4-FFF2-40B4-BE49-F238E27FC236}">
                <a16:creationId xmlns:a16="http://schemas.microsoft.com/office/drawing/2014/main" id="{9FB97B94-712D-419F-8ACE-6891237B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526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949AC225-CBED-4A2E-A78E-2E96FBE4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717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质量分析</a:t>
            </a:r>
          </a:p>
        </p:txBody>
      </p:sp>
      <p:sp>
        <p:nvSpPr>
          <p:cNvPr id="13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6D22BDC3-E4C6-4B6A-8B1C-634C7B6D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71800"/>
            <a:ext cx="11811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A2：识别歧义、冲突、遗漏和不可验证表述</a:t>
            </a:r>
          </a:p>
        </p:txBody>
      </p:sp>
      <p:sp>
        <p:nvSpPr>
          <p:cNvPr id="14" name="stage-box-3">
            <a:extLst xmlns:a="http://schemas.openxmlformats.org/drawingml/2006/main">
              <a:ext uri="{FF2B5EF4-FFF2-40B4-BE49-F238E27FC236}">
                <a16:creationId xmlns:a16="http://schemas.microsoft.com/office/drawing/2014/main" id="{5DCF6536-0E3F-4C80-9434-85F9D7AB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524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5" name="stage-num-3">
            <a:extLst xmlns:a="http://schemas.openxmlformats.org/drawingml/2006/main">
              <a:ext uri="{FF2B5EF4-FFF2-40B4-BE49-F238E27FC236}">
                <a16:creationId xmlns:a16="http://schemas.microsoft.com/office/drawing/2014/main" id="{E8727308-462D-430D-92E3-CDAF8F23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82D25D99-9070-4BAE-93D6-A84A8AE9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UML建模</a:t>
            </a:r>
          </a:p>
        </p:txBody>
      </p:sp>
      <p:sp>
        <p:nvSpPr>
          <p:cNvPr id="17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732DED2-5F34-43FE-A4AA-76B065A2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71800"/>
            <a:ext cx="11811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A3：把业务流程和领域对象结构化</a:t>
            </a:r>
          </a:p>
        </p:txBody>
      </p:sp>
      <p:sp>
        <p:nvSpPr>
          <p:cNvPr id="18" name="stage-box-4">
            <a:extLst xmlns:a="http://schemas.openxmlformats.org/drawingml/2006/main">
              <a:ext uri="{FF2B5EF4-FFF2-40B4-BE49-F238E27FC236}">
                <a16:creationId xmlns:a16="http://schemas.microsoft.com/office/drawing/2014/main" id="{C51F0108-7238-4A3F-8045-5B756ED6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0250"/>
            <a:ext cx="1524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9" name="stage-num-4">
            <a:extLst xmlns:a="http://schemas.openxmlformats.org/drawingml/2006/main">
              <a:ext uri="{FF2B5EF4-FFF2-40B4-BE49-F238E27FC236}">
                <a16:creationId xmlns:a16="http://schemas.microsoft.com/office/drawing/2014/main" id="{7C11D52C-2CB7-4798-BB82-052CE10F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52067B29-7167-4D10-B469-1C2BC1E5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SRS编写</a:t>
            </a:r>
          </a:p>
        </p:txBody>
      </p:sp>
      <p:sp>
        <p:nvSpPr>
          <p:cNvPr id="21" name="stage-body-4">
            <a:extLst xmlns:a="http://schemas.openxmlformats.org/drawingml/2006/main">
              <a:ext uri="{FF2B5EF4-FFF2-40B4-BE49-F238E27FC236}">
                <a16:creationId xmlns:a16="http://schemas.microsoft.com/office/drawing/2014/main" id="{B0AD87FD-7A17-407A-B5CD-32C913CA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11811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A4：形成正式需求规格和验收口径</a:t>
            </a:r>
          </a:p>
        </p:txBody>
      </p:sp>
      <p:sp>
        <p:nvSpPr>
          <p:cNvPr id="22" name="stage-box-5">
            <a:extLst xmlns:a="http://schemas.openxmlformats.org/drawingml/2006/main">
              <a:ext uri="{FF2B5EF4-FFF2-40B4-BE49-F238E27FC236}">
                <a16:creationId xmlns:a16="http://schemas.microsoft.com/office/drawing/2014/main" id="{37B0BE9D-3B19-4623-9A80-0E412BA5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1524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3" name="stage-num-5">
            <a:extLst xmlns:a="http://schemas.openxmlformats.org/drawingml/2006/main">
              <a:ext uri="{FF2B5EF4-FFF2-40B4-BE49-F238E27FC236}">
                <a16:creationId xmlns:a16="http://schemas.microsoft.com/office/drawing/2014/main" id="{7E59A7D1-FDDA-4D27-BB4A-058AFD62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stage-title-5">
            <a:extLst xmlns:a="http://schemas.openxmlformats.org/drawingml/2006/main">
              <a:ext uri="{FF2B5EF4-FFF2-40B4-BE49-F238E27FC236}">
                <a16:creationId xmlns:a16="http://schemas.microsoft.com/office/drawing/2014/main" id="{1E994C30-4974-45C3-A965-55ECA7DE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需求验证</a:t>
            </a:r>
          </a:p>
        </p:txBody>
      </p:sp>
      <p:sp>
        <p:nvSpPr>
          <p:cNvPr id="25" name="stage-body-5">
            <a:extLst xmlns:a="http://schemas.openxmlformats.org/drawingml/2006/main">
              <a:ext uri="{FF2B5EF4-FFF2-40B4-BE49-F238E27FC236}">
                <a16:creationId xmlns:a16="http://schemas.microsoft.com/office/drawing/2014/main" id="{03A8E9A4-12BB-4BF3-99D6-6E3E09F2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71800"/>
            <a:ext cx="11811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A5：检查一致性、完整性和可测性</a:t>
            </a:r>
          </a:p>
        </p:txBody>
      </p:sp>
      <p:sp>
        <p:nvSpPr>
          <p:cNvPr id="26" name="stage-box-6">
            <a:extLst xmlns:a="http://schemas.openxmlformats.org/drawingml/2006/main">
              <a:ext uri="{FF2B5EF4-FFF2-40B4-BE49-F238E27FC236}">
                <a16:creationId xmlns:a16="http://schemas.microsoft.com/office/drawing/2014/main" id="{C7DBB254-33E8-4146-8151-68DE630E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00250"/>
            <a:ext cx="1524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7" name="stage-num-6">
            <a:extLst xmlns:a="http://schemas.openxmlformats.org/drawingml/2006/main">
              <a:ext uri="{FF2B5EF4-FFF2-40B4-BE49-F238E27FC236}">
                <a16:creationId xmlns:a16="http://schemas.microsoft.com/office/drawing/2014/main" id="{6143B8E4-7BEC-41CA-87F6-58D1396B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526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stage-title-6">
            <a:extLst xmlns:a="http://schemas.openxmlformats.org/drawingml/2006/main">
              <a:ext uri="{FF2B5EF4-FFF2-40B4-BE49-F238E27FC236}">
                <a16:creationId xmlns:a16="http://schemas.microsoft.com/office/drawing/2014/main" id="{EDC7EFEE-159E-45EE-A03F-139A1006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717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基线管理</a:t>
            </a:r>
          </a:p>
        </p:txBody>
      </p:sp>
      <p:sp>
        <p:nvSpPr>
          <p:cNvPr id="29" name="stage-body-6">
            <a:extLst xmlns:a="http://schemas.openxmlformats.org/drawingml/2006/main">
              <a:ext uri="{FF2B5EF4-FFF2-40B4-BE49-F238E27FC236}">
                <a16:creationId xmlns:a16="http://schemas.microsoft.com/office/drawing/2014/main" id="{F84E0E84-E11F-4AF4-9C47-5339E30A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971800"/>
            <a:ext cx="11811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A6：冻结版本并建立追溯矩阵</a:t>
            </a:r>
          </a:p>
        </p:txBody>
      </p:sp>
      <p:sp>
        <p:nvSpPr>
          <p:cNvPr id="30" name="method-bottom">
            <a:extLst xmlns:a="http://schemas.openxmlformats.org/drawingml/2006/main">
              <a:ext uri="{FF2B5EF4-FFF2-40B4-BE49-F238E27FC236}">
                <a16:creationId xmlns:a16="http://schemas.microsoft.com/office/drawing/2014/main" id="{9BF68D5A-9F2E-4ED2-90F8-86B6C578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A1b 访谈主持人负责追问流程、数据、权限、异常与非功能缺口；人工负责确认业务真实性和取舍。</a:t>
            </a:r>
          </a:p>
        </p:txBody>
      </p:sp>
    </p:spTree>
    <p:extLst>
      <p:ext uri="{BB962C8B-B14F-4D97-AF65-F5344CB8AC3E}">
        <p14:creationId xmlns:p14="http://schemas.microsoft.com/office/powerpoint/2010/main" val="20935066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A7E983D4-0D64-4C49-AEFB-DB21250D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追溯关系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AB66CA5-095E-4DB1-8085-0BE1697A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证据链：让需求能解释代码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C9390DE2-88AB-4FF9-9275-5F90E45C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FD0A8970-C520-43D7-B400-C5B225CF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图文快印 Print MIS | AI辅助软件开发实训</a:t>
            </a:r>
          </a:p>
        </p:txBody>
      </p:sp>
      <p:sp>
        <p:nvSpPr>
          <p:cNvPr id="5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B543DC60-2938-477C-9CBA-80B6A9A6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52450" y="1790700"/>
          <a:ext xmlns:a="http://schemas.openxmlformats.org/drawingml/2006/main" cx="110871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38250"/>
                <a:gridCol w="2190750"/>
                <a:gridCol w="2952750"/>
                <a:gridCol w="4705350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核心产物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证据路径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SRS / RTM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定义范围与验收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obsidian-vault/wiki/baselines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ASD / MDS / DTS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约束架构与模块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wiki/summaries/*.md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OpenAPI 契约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固定外部交互形状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wiki/summaries/API契约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v1 / v2 代码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业务流程可运行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generated-code/printshop-v*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RCR / CRR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反向校验漂移与回归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wiki/summaries/变更管理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evidence-callout">
            <a:extLst xmlns:a="http://schemas.openxmlformats.org/drawingml/2006/main">
              <a:ext uri="{FF2B5EF4-FFF2-40B4-BE49-F238E27FC236}">
                <a16:creationId xmlns:a16="http://schemas.microsoft.com/office/drawing/2014/main" id="{FB4F04CF-D153-403C-BB1F-3C27943C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答辩时的关键标准：不是“生成了多少文件”，而是同一业务事实能否在需求、设计、代码、测试和变更记录之间互相印证。</a:t>
            </a:r>
          </a:p>
        </p:txBody>
      </p:sp>
    </p:spTree>
    <p:extLst>
      <p:ext uri="{BB962C8B-B14F-4D97-AF65-F5344CB8AC3E}">
        <p14:creationId xmlns:p14="http://schemas.microsoft.com/office/powerpoint/2010/main" val="1762778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6">
            <a:extLst xmlns:a="http://schemas.openxmlformats.org/drawingml/2006/main">
              <a:ext uri="{FF2B5EF4-FFF2-40B4-BE49-F238E27FC236}">
                <a16:creationId xmlns:a16="http://schemas.microsoft.com/office/drawing/2014/main" id="{29651611-389E-4C6E-8E72-FF6E861D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系统结构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A998C90-1212-4DE1-82F1-12D06700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架构：需求平台与业务系统分层协同</a:t>
            </a:r>
          </a:p>
        </p:txBody>
      </p:sp>
      <p:sp>
        <p:nvSpPr>
          <p:cNvPr id="3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03A2F03C-B6A4-48AA-9B77-D4FD1AA8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150852BD-3276-4CAA-BF4A-0036B6F7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图文快印 Print MIS | AI辅助软件开发实训</a:t>
            </a:r>
          </a:p>
        </p:txBody>
      </p:sp>
      <p:sp>
        <p:nvSpPr>
          <p:cNvPr id="5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46F86BB3-F0A5-4804-A3AB-030F6C85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arch-left-title">
            <a:extLst xmlns:a="http://schemas.openxmlformats.org/drawingml/2006/main">
              <a:ext uri="{FF2B5EF4-FFF2-40B4-BE49-F238E27FC236}">
                <a16:creationId xmlns:a16="http://schemas.microsoft.com/office/drawing/2014/main" id="{E51D522E-6317-45AF-8EDE-24E4348F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需求工程侧</a:t>
            </a:r>
          </a:p>
        </p:txBody>
      </p:sp>
      <p:sp>
        <p:nvSpPr>
          <p:cNvPr id="7" name="arch-right-title">
            <a:extLst xmlns:a="http://schemas.openxmlformats.org/drawingml/2006/main">
              <a:ext uri="{FF2B5EF4-FFF2-40B4-BE49-F238E27FC236}">
                <a16:creationId xmlns:a16="http://schemas.microsoft.com/office/drawing/2014/main" id="{2AA5CD80-D1CB-462F-A55A-70BB85B7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52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rPr>
              <a:t>业务系统侧</a:t>
            </a:r>
          </a:p>
        </p:txBody>
      </p:sp>
      <p:sp>
        <p:nvSpPr>
          <p:cNvPr id="8" name="arch-left-box-0">
            <a:extLst xmlns:a="http://schemas.openxmlformats.org/drawingml/2006/main">
              <a:ext uri="{FF2B5EF4-FFF2-40B4-BE49-F238E27FC236}">
                <a16:creationId xmlns:a16="http://schemas.microsoft.com/office/drawing/2014/main" id="{1B054C37-4B77-4BFE-8925-9FA6A49B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9" name="arch-left-text-0">
            <a:extLst xmlns:a="http://schemas.openxmlformats.org/drawingml/2006/main">
              <a:ext uri="{FF2B5EF4-FFF2-40B4-BE49-F238E27FC236}">
                <a16:creationId xmlns:a16="http://schemas.microsoft.com/office/drawing/2014/main" id="{F71505CE-D934-4379-959E-307FF4C4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FastAPI 页面与接口</a:t>
            </a:r>
          </a:p>
        </p:txBody>
      </p:sp>
      <p:sp>
        <p:nvSpPr>
          <p:cNvPr id="10" name="arch-left-box-1">
            <a:extLst xmlns:a="http://schemas.openxmlformats.org/drawingml/2006/main">
              <a:ext uri="{FF2B5EF4-FFF2-40B4-BE49-F238E27FC236}">
                <a16:creationId xmlns:a16="http://schemas.microsoft.com/office/drawing/2014/main" id="{34ECE7A9-3F2E-42F6-B4C0-BFC571AE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1" name="arch-left-text-1">
            <a:extLst xmlns:a="http://schemas.openxmlformats.org/drawingml/2006/main">
              <a:ext uri="{FF2B5EF4-FFF2-40B4-BE49-F238E27FC236}">
                <a16:creationId xmlns:a16="http://schemas.microsoft.com/office/drawing/2014/main" id="{AE965DE0-890B-4F56-98F4-3754BF81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CrewAI 阶段智能体</a:t>
            </a:r>
          </a:p>
        </p:txBody>
      </p:sp>
      <p:sp>
        <p:nvSpPr>
          <p:cNvPr id="12" name="arch-left-box-2">
            <a:extLst xmlns:a="http://schemas.openxmlformats.org/drawingml/2006/main">
              <a:ext uri="{FF2B5EF4-FFF2-40B4-BE49-F238E27FC236}">
                <a16:creationId xmlns:a16="http://schemas.microsoft.com/office/drawing/2014/main" id="{E5B142EC-CFE1-4626-9AD4-69875AC8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3" name="arch-left-text-2">
            <a:extLst xmlns:a="http://schemas.openxmlformats.org/drawingml/2006/main">
              <a:ext uri="{FF2B5EF4-FFF2-40B4-BE49-F238E27FC236}">
                <a16:creationId xmlns:a16="http://schemas.microsoft.com/office/drawing/2014/main" id="{9D3B90E6-0811-4106-9A2E-B64637A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Obsidian 知识库</a:t>
            </a:r>
          </a:p>
        </p:txBody>
      </p:sp>
      <p:sp>
        <p:nvSpPr>
          <p:cNvPr id="14" name="arch-left-box-3">
            <a:extLst xmlns:a="http://schemas.openxmlformats.org/drawingml/2006/main">
              <a:ext uri="{FF2B5EF4-FFF2-40B4-BE49-F238E27FC236}">
                <a16:creationId xmlns:a16="http://schemas.microsoft.com/office/drawing/2014/main" id="{0C2C3A88-3E90-4705-9CEA-2B844E91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5" name="arch-left-text-3">
            <a:extLst xmlns:a="http://schemas.openxmlformats.org/drawingml/2006/main">
              <a:ext uri="{FF2B5EF4-FFF2-40B4-BE49-F238E27FC236}">
                <a16:creationId xmlns:a16="http://schemas.microsoft.com/office/drawing/2014/main" id="{4066BCA4-858A-42B4-9EF8-15F78B2B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n8n CCB 工作流</a:t>
            </a:r>
          </a:p>
        </p:txBody>
      </p:sp>
      <p:sp>
        <p:nvSpPr>
          <p:cNvPr id="16" name="arch-right-box-0">
            <a:extLst xmlns:a="http://schemas.openxmlformats.org/drawingml/2006/main">
              <a:ext uri="{FF2B5EF4-FFF2-40B4-BE49-F238E27FC236}">
                <a16:creationId xmlns:a16="http://schemas.microsoft.com/office/drawing/2014/main" id="{1EE83990-E466-441A-A1A3-94AA230A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7" name="arch-right-text-0">
            <a:extLst xmlns:a="http://schemas.openxmlformats.org/drawingml/2006/main">
              <a:ext uri="{FF2B5EF4-FFF2-40B4-BE49-F238E27FC236}">
                <a16:creationId xmlns:a16="http://schemas.microsoft.com/office/drawing/2014/main" id="{8E706F09-92F1-427F-BF3C-51CC8101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Java 17 / Spring Boot 3</a:t>
            </a:r>
          </a:p>
        </p:txBody>
      </p:sp>
      <p:sp>
        <p:nvSpPr>
          <p:cNvPr id="18" name="arch-right-box-1">
            <a:extLst xmlns:a="http://schemas.openxmlformats.org/drawingml/2006/main">
              <a:ext uri="{FF2B5EF4-FFF2-40B4-BE49-F238E27FC236}">
                <a16:creationId xmlns:a16="http://schemas.microsoft.com/office/drawing/2014/main" id="{E1A7DF89-4388-4143-BA09-0CBA44C7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9" name="arch-right-text-1">
            <a:extLst xmlns:a="http://schemas.openxmlformats.org/drawingml/2006/main">
              <a:ext uri="{FF2B5EF4-FFF2-40B4-BE49-F238E27FC236}">
                <a16:creationId xmlns:a16="http://schemas.microsoft.com/office/drawing/2014/main" id="{B6EE79EF-3672-43DE-8A71-43307DFF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48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Spring Security + JPA</a:t>
            </a:r>
          </a:p>
        </p:txBody>
      </p:sp>
      <p:sp>
        <p:nvSpPr>
          <p:cNvPr id="20" name="arch-right-box-2">
            <a:extLst xmlns:a="http://schemas.openxmlformats.org/drawingml/2006/main">
              <a:ext uri="{FF2B5EF4-FFF2-40B4-BE49-F238E27FC236}">
                <a16:creationId xmlns:a16="http://schemas.microsoft.com/office/drawing/2014/main" id="{F46E1F69-9596-4CF9-B9B2-799682E9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1950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1" name="arch-right-text-2">
            <a:extLst xmlns:a="http://schemas.openxmlformats.org/drawingml/2006/main">
              <a:ext uri="{FF2B5EF4-FFF2-40B4-BE49-F238E27FC236}">
                <a16:creationId xmlns:a16="http://schemas.microsoft.com/office/drawing/2014/main" id="{F0004953-2443-4557-8BE7-5DF72839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147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Flyway + MySQL/H2</a:t>
            </a:r>
          </a:p>
        </p:txBody>
      </p:sp>
      <p:sp>
        <p:nvSpPr>
          <p:cNvPr id="22" name="arch-right-box-3">
            <a:extLst xmlns:a="http://schemas.openxmlformats.org/drawingml/2006/main">
              <a:ext uri="{FF2B5EF4-FFF2-40B4-BE49-F238E27FC236}">
                <a16:creationId xmlns:a16="http://schemas.microsoft.com/office/drawing/2014/main" id="{F1E4BACA-5A56-4E94-B6F3-268DE0A2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862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3" name="arch-right-text-3">
            <a:extLst xmlns:a="http://schemas.openxmlformats.org/drawingml/2006/main">
              <a:ext uri="{FF2B5EF4-FFF2-40B4-BE49-F238E27FC236}">
                <a16:creationId xmlns:a16="http://schemas.microsoft.com/office/drawing/2014/main" id="{49E1612A-2153-4CD2-A391-3FC60421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81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无构建 ES Module 前端</a:t>
            </a:r>
          </a:p>
        </p:txBody>
      </p:sp>
      <p:sp>
        <p:nvSpPr>
          <p:cNvPr id="24" name="arch-bridge">
            <a:extLst xmlns:a="http://schemas.openxmlformats.org/drawingml/2006/main">
              <a:ext uri="{FF2B5EF4-FFF2-40B4-BE49-F238E27FC236}">
                <a16:creationId xmlns:a16="http://schemas.microsoft.com/office/drawing/2014/main" id="{513B1A97-EFA9-453F-81C0-4456D31C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76625"/>
            <a:ext cx="1866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TLCD / OpenAPI / ADR</a:t>
            </a:r>
          </a:p>
        </p:txBody>
      </p:sp>
      <p:sp>
        <p:nvSpPr>
          <p:cNvPr id="25" name="arch-caption">
            <a:extLst xmlns:a="http://schemas.openxmlformats.org/drawingml/2006/main">
              <a:ext uri="{FF2B5EF4-FFF2-40B4-BE49-F238E27FC236}">
                <a16:creationId xmlns:a16="http://schemas.microsoft.com/office/drawing/2014/main" id="{6E00995F-F654-45F4-8BA8-1B9707F6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340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设计约束把自然语言需求转译为可检查的实现边界。</a:t>
            </a:r>
          </a:p>
        </p:txBody>
      </p:sp>
    </p:spTree>
    <p:extLst>
      <p:ext uri="{BB962C8B-B14F-4D97-AF65-F5344CB8AC3E}">
        <p14:creationId xmlns:p14="http://schemas.microsoft.com/office/powerpoint/2010/main" val="7998068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7">
            <a:extLst xmlns:a="http://schemas.openxmlformats.org/drawingml/2006/main">
              <a:ext uri="{FF2B5EF4-FFF2-40B4-BE49-F238E27FC236}">
                <a16:creationId xmlns:a16="http://schemas.microsoft.com/office/drawing/2014/main" id="{4FF660A9-3597-4202-9896-59103E50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系统实现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6815EC17-C3FE-4629-8091-B9F88611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v1：先形成端到端业务闭环</a:t>
            </a:r>
          </a:p>
        </p:txBody>
      </p:sp>
      <p:sp>
        <p:nvSpPr>
          <p:cNvPr id="3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B8C21B1A-F809-4A29-8450-2B36E377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D611BBE5-9672-4F8B-B1F8-60EE7F2F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图文快印 Print MIS | AI辅助软件开发实训</a:t>
            </a:r>
          </a:p>
        </p:txBody>
      </p:sp>
      <p:sp>
        <p:nvSpPr>
          <p:cNvPr id="5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D7FA4F50-6EE8-4A0D-9EA1-E96C8BCF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v1-module-0-0">
            <a:extLst xmlns:a="http://schemas.openxmlformats.org/drawingml/2006/main">
              <a:ext uri="{FF2B5EF4-FFF2-40B4-BE49-F238E27FC236}">
                <a16:creationId xmlns:a16="http://schemas.microsoft.com/office/drawing/2014/main" id="{7AC90A3F-4EE0-4E3C-AB37-B7868D19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7" name="v1-module-text-0-0">
            <a:extLst xmlns:a="http://schemas.openxmlformats.org/drawingml/2006/main">
              <a:ext uri="{FF2B5EF4-FFF2-40B4-BE49-F238E27FC236}">
                <a16:creationId xmlns:a16="http://schemas.microsoft.com/office/drawing/2014/main" id="{E0B79B27-FF01-45AE-B0FD-A5AFE6E5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8" name="v1-module-0-1">
            <a:extLst xmlns:a="http://schemas.openxmlformats.org/drawingml/2006/main">
              <a:ext uri="{FF2B5EF4-FFF2-40B4-BE49-F238E27FC236}">
                <a16:creationId xmlns:a16="http://schemas.microsoft.com/office/drawing/2014/main" id="{87F8B7B6-6C51-4144-B627-31822275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9" name="v1-module-text-0-1">
            <a:extLst xmlns:a="http://schemas.openxmlformats.org/drawingml/2006/main">
              <a:ext uri="{FF2B5EF4-FFF2-40B4-BE49-F238E27FC236}">
                <a16:creationId xmlns:a16="http://schemas.microsoft.com/office/drawing/2014/main" id="{2D5B36D5-7244-43FB-A6A7-568588FB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10" name="v1-module-0-2">
            <a:extLst xmlns:a="http://schemas.openxmlformats.org/drawingml/2006/main">
              <a:ext uri="{FF2B5EF4-FFF2-40B4-BE49-F238E27FC236}">
                <a16:creationId xmlns:a16="http://schemas.microsoft.com/office/drawing/2014/main" id="{10B52856-6533-43FE-A37A-AA9D3160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097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1" name="v1-module-text-0-2">
            <a:extLst xmlns:a="http://schemas.openxmlformats.org/drawingml/2006/main">
              <a:ext uri="{FF2B5EF4-FFF2-40B4-BE49-F238E27FC236}">
                <a16:creationId xmlns:a16="http://schemas.microsoft.com/office/drawing/2014/main" id="{1BA05F25-41D9-49C9-83C4-4CF08763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81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报价</a:t>
            </a:r>
          </a:p>
        </p:txBody>
      </p:sp>
      <p:sp>
        <p:nvSpPr>
          <p:cNvPr id="12" name="v1-module-0-3">
            <a:extLst xmlns:a="http://schemas.openxmlformats.org/drawingml/2006/main">
              <a:ext uri="{FF2B5EF4-FFF2-40B4-BE49-F238E27FC236}">
                <a16:creationId xmlns:a16="http://schemas.microsoft.com/office/drawing/2014/main" id="{56DE5D2C-8462-4B75-8E5B-B1C70B36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097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3" name="v1-module-text-0-3">
            <a:extLst xmlns:a="http://schemas.openxmlformats.org/drawingml/2006/main">
              <a:ext uri="{FF2B5EF4-FFF2-40B4-BE49-F238E27FC236}">
                <a16:creationId xmlns:a16="http://schemas.microsoft.com/office/drawing/2014/main" id="{C25783B2-E086-4AFA-BF38-F8D0AF4A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81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作业单</a:t>
            </a:r>
          </a:p>
        </p:txBody>
      </p:sp>
      <p:sp>
        <p:nvSpPr>
          <p:cNvPr id="14" name="v1-module-1-0">
            <a:extLst xmlns:a="http://schemas.openxmlformats.org/drawingml/2006/main">
              <a:ext uri="{FF2B5EF4-FFF2-40B4-BE49-F238E27FC236}">
                <a16:creationId xmlns:a16="http://schemas.microsoft.com/office/drawing/2014/main" id="{B0DAE4B9-0F13-4679-8AB3-46B8E5C7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5" name="v1-module-text-1-0">
            <a:extLst xmlns:a="http://schemas.openxmlformats.org/drawingml/2006/main">
              <a:ext uri="{FF2B5EF4-FFF2-40B4-BE49-F238E27FC236}">
                <a16:creationId xmlns:a16="http://schemas.microsoft.com/office/drawing/2014/main" id="{701FE434-B00E-4C7D-8D2F-18C586E9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rPr>
              <a:t>生产</a:t>
            </a:r>
          </a:p>
        </p:txBody>
      </p:sp>
      <p:sp>
        <p:nvSpPr>
          <p:cNvPr id="16" name="v1-module-1-1">
            <a:extLst xmlns:a="http://schemas.openxmlformats.org/drawingml/2006/main">
              <a:ext uri="{FF2B5EF4-FFF2-40B4-BE49-F238E27FC236}">
                <a16:creationId xmlns:a16="http://schemas.microsoft.com/office/drawing/2014/main" id="{95F440E6-23E3-4A26-BAE5-77D598D0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7" name="v1-module-text-1-1">
            <a:extLst xmlns:a="http://schemas.openxmlformats.org/drawingml/2006/main">
              <a:ext uri="{FF2B5EF4-FFF2-40B4-BE49-F238E27FC236}">
                <a16:creationId xmlns:a16="http://schemas.microsoft.com/office/drawing/2014/main" id="{1E8F3D3E-D695-4890-8E14-21D35EBF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rPr>
              <a:t>库存</a:t>
            </a:r>
          </a:p>
        </p:txBody>
      </p:sp>
      <p:sp>
        <p:nvSpPr>
          <p:cNvPr id="18" name="v1-module-1-2">
            <a:extLst xmlns:a="http://schemas.openxmlformats.org/drawingml/2006/main">
              <a:ext uri="{FF2B5EF4-FFF2-40B4-BE49-F238E27FC236}">
                <a16:creationId xmlns:a16="http://schemas.microsoft.com/office/drawing/2014/main" id="{318D765A-B912-4E07-8F8F-A939BE90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765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9" name="v1-module-text-1-2">
            <a:extLst xmlns:a="http://schemas.openxmlformats.org/drawingml/2006/main">
              <a:ext uri="{FF2B5EF4-FFF2-40B4-BE49-F238E27FC236}">
                <a16:creationId xmlns:a16="http://schemas.microsoft.com/office/drawing/2014/main" id="{6FC7697C-7C9D-4213-A7AB-31F8B385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48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rPr>
              <a:t>配送</a:t>
            </a:r>
          </a:p>
        </p:txBody>
      </p:sp>
      <p:sp>
        <p:nvSpPr>
          <p:cNvPr id="20" name="v1-module-1-3">
            <a:extLst xmlns:a="http://schemas.openxmlformats.org/drawingml/2006/main">
              <a:ext uri="{FF2B5EF4-FFF2-40B4-BE49-F238E27FC236}">
                <a16:creationId xmlns:a16="http://schemas.microsoft.com/office/drawing/2014/main" id="{44582D55-06BE-4362-BCE9-3F5C0CCD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765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1" name="v1-module-text-1-3">
            <a:extLst xmlns:a="http://schemas.openxmlformats.org/drawingml/2006/main">
              <a:ext uri="{FF2B5EF4-FFF2-40B4-BE49-F238E27FC236}">
                <a16:creationId xmlns:a16="http://schemas.microsoft.com/office/drawing/2014/main" id="{AA0CF035-B1EC-4F70-9416-941CA699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48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22" name="v1-module-2-0">
            <a:extLst xmlns:a="http://schemas.openxmlformats.org/drawingml/2006/main">
              <a:ext uri="{FF2B5EF4-FFF2-40B4-BE49-F238E27FC236}">
                <a16:creationId xmlns:a16="http://schemas.microsoft.com/office/drawing/2014/main" id="{A3EA41CB-766D-4316-B486-AD1D6348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3" name="v1-module-text-2-0">
            <a:extLst xmlns:a="http://schemas.openxmlformats.org/drawingml/2006/main">
              <a:ext uri="{FF2B5EF4-FFF2-40B4-BE49-F238E27FC236}">
                <a16:creationId xmlns:a16="http://schemas.microsoft.com/office/drawing/2014/main" id="{C70E6E83-36B0-4A4A-A24E-34116171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24" name="v1-module-2-1">
            <a:extLst xmlns:a="http://schemas.openxmlformats.org/drawingml/2006/main">
              <a:ext uri="{FF2B5EF4-FFF2-40B4-BE49-F238E27FC236}">
                <a16:creationId xmlns:a16="http://schemas.microsoft.com/office/drawing/2014/main" id="{CB28EB55-BAB8-425F-96E3-5D5A684E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433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5" name="v1-module-text-2-1">
            <a:extLst xmlns:a="http://schemas.openxmlformats.org/drawingml/2006/main">
              <a:ext uri="{FF2B5EF4-FFF2-40B4-BE49-F238E27FC236}">
                <a16:creationId xmlns:a16="http://schemas.microsoft.com/office/drawing/2014/main" id="{1B99CC08-5A0F-4E0C-8F24-C9B97270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14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报表</a:t>
            </a:r>
          </a:p>
        </p:txBody>
      </p:sp>
      <p:sp>
        <p:nvSpPr>
          <p:cNvPr id="26" name="v1-module-2-2">
            <a:extLst xmlns:a="http://schemas.openxmlformats.org/drawingml/2006/main">
              <a:ext uri="{FF2B5EF4-FFF2-40B4-BE49-F238E27FC236}">
                <a16:creationId xmlns:a16="http://schemas.microsoft.com/office/drawing/2014/main" id="{93B0255A-3EB6-458F-8B13-1021B0DD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433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7" name="v1-module-text-2-2">
            <a:extLst xmlns:a="http://schemas.openxmlformats.org/drawingml/2006/main">
              <a:ext uri="{FF2B5EF4-FFF2-40B4-BE49-F238E27FC236}">
                <a16:creationId xmlns:a16="http://schemas.microsoft.com/office/drawing/2014/main" id="{7F928775-5FAC-4E88-AD62-70984380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14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工作台</a:t>
            </a:r>
          </a:p>
        </p:txBody>
      </p:sp>
      <p:sp>
        <p:nvSpPr>
          <p:cNvPr id="28" name="v1-module-2-3">
            <a:extLst xmlns:a="http://schemas.openxmlformats.org/drawingml/2006/main">
              <a:ext uri="{FF2B5EF4-FFF2-40B4-BE49-F238E27FC236}">
                <a16:creationId xmlns:a16="http://schemas.microsoft.com/office/drawing/2014/main" id="{0D546F05-6F6B-4352-BE12-BFE19550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433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9" name="v1-module-text-2-3">
            <a:extLst xmlns:a="http://schemas.openxmlformats.org/drawingml/2006/main">
              <a:ext uri="{FF2B5EF4-FFF2-40B4-BE49-F238E27FC236}">
                <a16:creationId xmlns:a16="http://schemas.microsoft.com/office/drawing/2014/main" id="{94B4C676-E0FE-4195-AADE-6C677F3B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14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30" name="v1-bullets">
            <a:extLst xmlns:a="http://schemas.openxmlformats.org/drawingml/2006/main">
              <a:ext uri="{FF2B5EF4-FFF2-40B4-BE49-F238E27FC236}">
                <a16:creationId xmlns:a16="http://schemas.microsoft.com/office/drawing/2014/main" id="{72102B71-DF25-4811-986D-C68A9DD7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七类演示账号均可按角色访问对应模块。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订单详情可串起报价、生产、配送、财务和审计。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业务种子数据保持克制，便于从空库演示流程。</a:t>
            </a:r>
          </a:p>
        </p:txBody>
      </p:sp>
    </p:spTree>
    <p:extLst>
      <p:ext uri="{BB962C8B-B14F-4D97-AF65-F5344CB8AC3E}">
        <p14:creationId xmlns:p14="http://schemas.microsoft.com/office/powerpoint/2010/main" val="1177925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8">
            <a:extLst xmlns:a="http://schemas.openxmlformats.org/drawingml/2006/main">
              <a:ext uri="{FF2B5EF4-FFF2-40B4-BE49-F238E27FC236}">
                <a16:creationId xmlns:a16="http://schemas.microsoft.com/office/drawing/2014/main" id="{FB8F3247-4E17-40D7-B09B-8138C1B0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需求变更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E631000-5E6D-49EF-B641-8DFCECEE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v2：围绕真实变更做增量演进</a:t>
            </a:r>
          </a:p>
        </p:txBody>
      </p:sp>
      <p:sp>
        <p:nvSpPr>
          <p:cNvPr id="3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496B7D88-9A69-42DB-9BD7-9CBF3493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1AEAC6C9-C8FD-42CB-8CA6-57168616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图文快印 Print MIS | AI辅助软件开发实训</a:t>
            </a:r>
          </a:p>
        </p:txBody>
      </p:sp>
      <p:sp>
        <p:nvSpPr>
          <p:cNvPr id="5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0E09C1B7-4A2B-41C2-BDD0-38F3868E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v2-main">
            <a:extLst xmlns:a="http://schemas.openxmlformats.org/drawingml/2006/main">
              <a:ext uri="{FF2B5EF4-FFF2-40B4-BE49-F238E27FC236}">
                <a16:creationId xmlns:a16="http://schemas.microsoft.com/office/drawing/2014/main" id="{49B7B32D-D41F-4504-AD47-5CA20425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CR-001 订单变更冻结</a:t>
            </a:r>
          </a:p>
        </p:txBody>
      </p:sp>
      <p:sp>
        <p:nvSpPr>
          <p:cNvPr id="7" name="v2-desc">
            <a:extLst xmlns:a="http://schemas.openxmlformats.org/drawingml/2006/main">
              <a:ext uri="{FF2B5EF4-FFF2-40B4-BE49-F238E27FC236}">
                <a16:creationId xmlns:a16="http://schemas.microsoft.com/office/drawing/2014/main" id="{6E7143A1-1323-45C6-A9E6-357853EE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处理中订单的关键规格不能被直接覆盖，必须提交变更请求；待审批会阻断排产、完工和配送。</a:t>
            </a:r>
          </a:p>
        </p:txBody>
      </p:sp>
      <p:sp>
        <p:nvSpPr>
          <p:cNvPr id="8" name="v2-item-冻结规则">
            <a:extLst xmlns:a="http://schemas.openxmlformats.org/drawingml/2006/main">
              <a:ext uri="{FF2B5EF4-FFF2-40B4-BE49-F238E27FC236}">
                <a16:creationId xmlns:a16="http://schemas.microsoft.com/office/drawing/2014/main" id="{A51D900A-2318-4980-8CDD-9CD7D72A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v2-title-冻结规则">
            <a:extLst xmlns:a="http://schemas.openxmlformats.org/drawingml/2006/main">
              <a:ext uri="{FF2B5EF4-FFF2-40B4-BE49-F238E27FC236}">
                <a16:creationId xmlns:a16="http://schemas.microsoft.com/office/drawing/2014/main" id="{DAA537C8-087D-421D-AB45-4D2C89F7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冻结规则</a:t>
            </a:r>
          </a:p>
        </p:txBody>
      </p:sp>
      <p:sp>
        <p:nvSpPr>
          <p:cNvPr id="10" name="v2-desc-冻结规则">
            <a:extLst xmlns:a="http://schemas.openxmlformats.org/drawingml/2006/main">
              <a:ext uri="{FF2B5EF4-FFF2-40B4-BE49-F238E27FC236}">
                <a16:creationId xmlns:a16="http://schemas.microsoft.com/office/drawing/2014/main" id="{8675A41E-F19B-492F-83B1-FD977156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防止处理中的订单被静默改规格</a:t>
            </a:r>
          </a:p>
        </p:txBody>
      </p:sp>
      <p:sp>
        <p:nvSpPr>
          <p:cNvPr id="11" name="v2-item-审批闭环">
            <a:extLst xmlns:a="http://schemas.openxmlformats.org/drawingml/2006/main">
              <a:ext uri="{FF2B5EF4-FFF2-40B4-BE49-F238E27FC236}">
                <a16:creationId xmlns:a16="http://schemas.microsoft.com/office/drawing/2014/main" id="{597CA9BD-F714-4820-8E4D-207C88C3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2-title-审批闭环">
            <a:extLst xmlns:a="http://schemas.openxmlformats.org/drawingml/2006/main">
              <a:ext uri="{FF2B5EF4-FFF2-40B4-BE49-F238E27FC236}">
                <a16:creationId xmlns:a16="http://schemas.microsoft.com/office/drawing/2014/main" id="{7B03A489-8B55-4C5F-922F-047BB908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审批闭环</a:t>
            </a:r>
          </a:p>
        </p:txBody>
      </p:sp>
      <p:sp>
        <p:nvSpPr>
          <p:cNvPr id="13" name="v2-desc-审批闭环">
            <a:extLst xmlns:a="http://schemas.openxmlformats.org/drawingml/2006/main">
              <a:ext uri="{FF2B5EF4-FFF2-40B4-BE49-F238E27FC236}">
                <a16:creationId xmlns:a16="http://schemas.microsoft.com/office/drawing/2014/main" id="{ADA3FB0E-F0F8-46B6-BE4A-53890F18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2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店长/管理员批准或驳回并写审计</a:t>
            </a:r>
          </a:p>
        </p:txBody>
      </p:sp>
      <p:sp>
        <p:nvSpPr>
          <p:cNvPr id="14" name="v2-item-多门店边界">
            <a:extLst xmlns:a="http://schemas.openxmlformats.org/drawingml/2006/main">
              <a:ext uri="{FF2B5EF4-FFF2-40B4-BE49-F238E27FC236}">
                <a16:creationId xmlns:a16="http://schemas.microsoft.com/office/drawing/2014/main" id="{A853DC15-A9AE-47B9-8C27-D63240AB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2-title-多门店边界">
            <a:extLst xmlns:a="http://schemas.openxmlformats.org/drawingml/2006/main">
              <a:ext uri="{FF2B5EF4-FFF2-40B4-BE49-F238E27FC236}">
                <a16:creationId xmlns:a16="http://schemas.microsoft.com/office/drawing/2014/main" id="{DE1ADC0B-71FA-4633-9D81-DA4E7EF5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多门店边界</a:t>
            </a:r>
          </a:p>
        </p:txBody>
      </p:sp>
      <p:sp>
        <p:nvSpPr>
          <p:cNvPr id="16" name="v2-desc-多门店边界">
            <a:extLst xmlns:a="http://schemas.openxmlformats.org/drawingml/2006/main">
              <a:ext uri="{FF2B5EF4-FFF2-40B4-BE49-F238E27FC236}">
                <a16:creationId xmlns:a16="http://schemas.microsoft.com/office/drawing/2014/main" id="{635C398F-7260-441E-9EE9-CC558D95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客户本人、门店本店、总部跨店</a:t>
            </a:r>
          </a:p>
        </p:txBody>
      </p:sp>
      <p:sp>
        <p:nvSpPr>
          <p:cNvPr id="17" name="v2-item-账号治理">
            <a:extLst xmlns:a="http://schemas.openxmlformats.org/drawingml/2006/main">
              <a:ext uri="{FF2B5EF4-FFF2-40B4-BE49-F238E27FC236}">
                <a16:creationId xmlns:a16="http://schemas.microsoft.com/office/drawing/2014/main" id="{C5A2B34E-AA3C-438F-BDB8-AE0B1985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v2-title-账号治理">
            <a:extLst xmlns:a="http://schemas.openxmlformats.org/drawingml/2006/main">
              <a:ext uri="{FF2B5EF4-FFF2-40B4-BE49-F238E27FC236}">
                <a16:creationId xmlns:a16="http://schemas.microsoft.com/office/drawing/2014/main" id="{368A7133-A17A-4EA5-AF5C-F42FBFDF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账号治理</a:t>
            </a:r>
          </a:p>
        </p:txBody>
      </p:sp>
      <p:sp>
        <p:nvSpPr>
          <p:cNvPr id="19" name="v2-desc-账号治理">
            <a:extLst xmlns:a="http://schemas.openxmlformats.org/drawingml/2006/main">
              <a:ext uri="{FF2B5EF4-FFF2-40B4-BE49-F238E27FC236}">
                <a16:creationId xmlns:a16="http://schemas.microsoft.com/office/drawing/2014/main" id="{37D88531-5791-4A1A-91D9-C0E7EE42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注册、员工管理、软停用、BCrypt</a:t>
            </a:r>
          </a:p>
        </p:txBody>
      </p:sp>
      <p:sp>
        <p:nvSpPr>
          <p:cNvPr id="20" name="metric-bg-变更证据">
            <a:extLst xmlns:a="http://schemas.openxmlformats.org/drawingml/2006/main">
              <a:ext uri="{FF2B5EF4-FFF2-40B4-BE49-F238E27FC236}">
                <a16:creationId xmlns:a16="http://schemas.microsoft.com/office/drawing/2014/main" id="{6C10440A-711B-4550-BB03-49711F50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952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1" name="metric-accent-变更证据">
            <a:extLst xmlns:a="http://schemas.openxmlformats.org/drawingml/2006/main">
              <a:ext uri="{FF2B5EF4-FFF2-40B4-BE49-F238E27FC236}">
                <a16:creationId xmlns:a16="http://schemas.microsoft.com/office/drawing/2014/main" id="{BD436FFB-ADC6-4102-BD5A-A4FA1B97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metric-stat-变更证据">
            <a:extLst xmlns:a="http://schemas.openxmlformats.org/drawingml/2006/main">
              <a:ext uri="{FF2B5EF4-FFF2-40B4-BE49-F238E27FC236}">
                <a16:creationId xmlns:a16="http://schemas.microsoft.com/office/drawing/2014/main" id="{ACB692B0-EA0A-499F-9106-F6B36793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4790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CR/CIA/ADR</a:t>
            </a:r>
          </a:p>
        </p:txBody>
      </p:sp>
      <p:sp>
        <p:nvSpPr>
          <p:cNvPr id="23" name="metric-label-变更证据">
            <a:extLst xmlns:a="http://schemas.openxmlformats.org/drawingml/2006/main">
              <a:ext uri="{FF2B5EF4-FFF2-40B4-BE49-F238E27FC236}">
                <a16:creationId xmlns:a16="http://schemas.microsoft.com/office/drawing/2014/main" id="{B8CC56A8-DA33-4BD3-A596-BF235E87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575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变更证据</a:t>
            </a:r>
          </a:p>
        </p:txBody>
      </p:sp>
      <p:sp>
        <p:nvSpPr>
          <p:cNvPr id="24" name="metric-note-变更证据">
            <a:extLst xmlns:a="http://schemas.openxmlformats.org/drawingml/2006/main">
              <a:ext uri="{FF2B5EF4-FFF2-40B4-BE49-F238E27FC236}">
                <a16:creationId xmlns:a16="http://schemas.microsoft.com/office/drawing/2014/main" id="{858C40A9-8DA1-47C1-A379-2116BF8A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00400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变更提出、影响分析、架构决策和回归校验</a:t>
            </a:r>
          </a:p>
        </p:txBody>
      </p:sp>
      <p:sp>
        <p:nvSpPr>
          <p:cNvPr id="25" name="metric-bg-回归守护">
            <a:extLst xmlns:a="http://schemas.openxmlformats.org/drawingml/2006/main">
              <a:ext uri="{FF2B5EF4-FFF2-40B4-BE49-F238E27FC236}">
                <a16:creationId xmlns:a16="http://schemas.microsoft.com/office/drawing/2014/main" id="{3423CF52-8081-44ED-9171-2668FEDF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6" name="metric-accent-回归守护">
            <a:extLst xmlns:a="http://schemas.openxmlformats.org/drawingml/2006/main">
              <a:ext uri="{FF2B5EF4-FFF2-40B4-BE49-F238E27FC236}">
                <a16:creationId xmlns:a16="http://schemas.microsoft.com/office/drawing/2014/main" id="{B60F8A35-324E-483E-8568-FC4019B0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etric-stat-回归守护">
            <a:extLst xmlns:a="http://schemas.openxmlformats.org/drawingml/2006/main">
              <a:ext uri="{FF2B5EF4-FFF2-40B4-BE49-F238E27FC236}">
                <a16:creationId xmlns:a16="http://schemas.microsoft.com/office/drawing/2014/main" id="{3D202117-4A4B-49CE-9AD1-50A7003A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5290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CRR</a:t>
            </a:r>
          </a:p>
        </p:txBody>
      </p:sp>
      <p:sp>
        <p:nvSpPr>
          <p:cNvPr id="28" name="metric-label-回归守护">
            <a:extLst xmlns:a="http://schemas.openxmlformats.org/drawingml/2006/main">
              <a:ext uri="{FF2B5EF4-FFF2-40B4-BE49-F238E27FC236}">
                <a16:creationId xmlns:a16="http://schemas.microsoft.com/office/drawing/2014/main" id="{E8871629-9930-4674-A294-10C9005B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回归守护</a:t>
            </a:r>
          </a:p>
        </p:txBody>
      </p:sp>
      <p:sp>
        <p:nvSpPr>
          <p:cNvPr id="29" name="metric-note-回归守护">
            <a:extLst xmlns:a="http://schemas.openxmlformats.org/drawingml/2006/main">
              <a:ext uri="{FF2B5EF4-FFF2-40B4-BE49-F238E27FC236}">
                <a16:creationId xmlns:a16="http://schemas.microsoft.com/office/drawing/2014/main" id="{0EB58028-1B38-4BA6-B536-EF8E3969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673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验证冻结规则不破坏 v1 流程</a:t>
            </a:r>
          </a:p>
        </p:txBody>
      </p:sp>
    </p:spTree>
    <p:extLst>
      <p:ext uri="{BB962C8B-B14F-4D97-AF65-F5344CB8AC3E}">
        <p14:creationId xmlns:p14="http://schemas.microsoft.com/office/powerpoint/2010/main" val="9935640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9">
            <a:extLst xmlns:a="http://schemas.openxmlformats.org/drawingml/2006/main">
              <a:ext uri="{FF2B5EF4-FFF2-40B4-BE49-F238E27FC236}">
                <a16:creationId xmlns:a16="http://schemas.microsoft.com/office/drawing/2014/main" id="{089C80A3-48EC-4DE4-9EAF-463137AA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文件能力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0FE8ACB6-EEF6-41E3-AB95-DF3A6CFC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上传建单：让文件成为订单入口</a:t>
            </a:r>
          </a:p>
        </p:txBody>
      </p:sp>
      <p:sp>
        <p:nvSpPr>
          <p:cNvPr id="3" name="header-rule-9">
            <a:extLst xmlns:a="http://schemas.openxmlformats.org/drawingml/2006/main">
              <a:ext uri="{FF2B5EF4-FFF2-40B4-BE49-F238E27FC236}">
                <a16:creationId xmlns:a16="http://schemas.microsoft.com/office/drawing/2014/main" id="{BE8424CD-1CDB-4CAB-B845-E2F2FE27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2AB9E23E-E1F0-45B0-BF5D-EDC04239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图文快印 Print MIS | AI辅助软件开发实训</a:t>
            </a:r>
          </a:p>
        </p:txBody>
      </p:sp>
      <p:sp>
        <p:nvSpPr>
          <p:cNvPr id="5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50A4416E-C672-480E-8511-CE66F204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stage-box-1">
            <a:extLst xmlns:a="http://schemas.openxmlformats.org/drawingml/2006/main">
              <a:ext uri="{FF2B5EF4-FFF2-40B4-BE49-F238E27FC236}">
                <a16:creationId xmlns:a16="http://schemas.microsoft.com/office/drawing/2014/main" id="{A0D9B3D2-9094-473F-A320-6F361F81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1809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7" name="stage-num-1">
            <a:extLst xmlns:a="http://schemas.openxmlformats.org/drawingml/2006/main">
              <a:ext uri="{FF2B5EF4-FFF2-40B4-BE49-F238E27FC236}">
                <a16:creationId xmlns:a16="http://schemas.microsoft.com/office/drawing/2014/main" id="{CC2109D8-8DC4-4F74-896E-416E9FB4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64B05206-BD23-4C6A-9199-D2E5AF27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上传文件</a:t>
            </a:r>
          </a:p>
        </p:txBody>
      </p:sp>
      <p:sp>
        <p:nvSpPr>
          <p:cNvPr id="9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AD703251-4C3E-467A-8861-A8B0CA80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校验类型、大小和空文件</a:t>
            </a:r>
          </a:p>
        </p:txBody>
      </p:sp>
      <p:sp>
        <p:nvSpPr>
          <p:cNvPr id="10" name="stage-box-2">
            <a:extLst xmlns:a="http://schemas.openxmlformats.org/drawingml/2006/main">
              <a:ext uri="{FF2B5EF4-FFF2-40B4-BE49-F238E27FC236}">
                <a16:creationId xmlns:a16="http://schemas.microsoft.com/office/drawing/2014/main" id="{D8ACA194-DA10-413A-9875-A934978A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28800"/>
            <a:ext cx="1809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1" name="stage-num-2">
            <a:extLst xmlns:a="http://schemas.openxmlformats.org/drawingml/2006/main">
              <a:ext uri="{FF2B5EF4-FFF2-40B4-BE49-F238E27FC236}">
                <a16:creationId xmlns:a16="http://schemas.microsoft.com/office/drawing/2014/main" id="{9BDBBEBD-F9F8-4DF4-A407-7C31DB35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812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578E2B8B-F0BA-4D8C-AECA-A575CCFF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003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生成订单</a:t>
            </a:r>
          </a:p>
        </p:txBody>
      </p:sp>
      <p:sp>
        <p:nvSpPr>
          <p:cNvPr id="13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F48FCF82-4591-413C-A639-39A55AF2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默认参数先建 SUBMITTED 订单</a:t>
            </a:r>
          </a:p>
        </p:txBody>
      </p:sp>
      <p:sp>
        <p:nvSpPr>
          <p:cNvPr id="14" name="stage-box-3">
            <a:extLst xmlns:a="http://schemas.openxmlformats.org/drawingml/2006/main">
              <a:ext uri="{FF2B5EF4-FFF2-40B4-BE49-F238E27FC236}">
                <a16:creationId xmlns:a16="http://schemas.microsoft.com/office/drawing/2014/main" id="{904056AB-8873-48A3-951B-E0F9469A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28800"/>
            <a:ext cx="1809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5" name="stage-num-3">
            <a:extLst xmlns:a="http://schemas.openxmlformats.org/drawingml/2006/main">
              <a:ext uri="{FF2B5EF4-FFF2-40B4-BE49-F238E27FC236}">
                <a16:creationId xmlns:a16="http://schemas.microsoft.com/office/drawing/2014/main" id="{34C942D9-97B4-45C1-BAD8-CF4CEEBE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812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5F5C63C9-BEFB-4285-82B4-A7EA5157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003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自动分析</a:t>
            </a:r>
          </a:p>
        </p:txBody>
      </p:sp>
      <p:sp>
        <p:nvSpPr>
          <p:cNvPr id="17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406D2684-B6A0-4500-8112-179CFDAC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003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PDF/图片/Word 识别可靠参数</a:t>
            </a:r>
          </a:p>
        </p:txBody>
      </p:sp>
      <p:sp>
        <p:nvSpPr>
          <p:cNvPr id="18" name="stage-box-4">
            <a:extLst xmlns:a="http://schemas.openxmlformats.org/drawingml/2006/main">
              <a:ext uri="{FF2B5EF4-FFF2-40B4-BE49-F238E27FC236}">
                <a16:creationId xmlns:a16="http://schemas.microsoft.com/office/drawing/2014/main" id="{CCC2FA41-E302-4E3D-880D-D03E9BFC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28800"/>
            <a:ext cx="1809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9" name="stage-num-4">
            <a:extLst xmlns:a="http://schemas.openxmlformats.org/drawingml/2006/main">
              <a:ext uri="{FF2B5EF4-FFF2-40B4-BE49-F238E27FC236}">
                <a16:creationId xmlns:a16="http://schemas.microsoft.com/office/drawing/2014/main" id="{1D947949-3915-4D85-9F79-A5F59FBE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812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CA25478D-1E71-478A-8E26-02285636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003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回填计价</a:t>
            </a:r>
          </a:p>
        </p:txBody>
      </p:sp>
      <p:sp>
        <p:nvSpPr>
          <p:cNvPr id="21" name="stage-body-4">
            <a:extLst xmlns:a="http://schemas.openxmlformats.org/drawingml/2006/main">
              <a:ext uri="{FF2B5EF4-FFF2-40B4-BE49-F238E27FC236}">
                <a16:creationId xmlns:a16="http://schemas.microsoft.com/office/drawing/2014/main" id="{1E5A8CC4-E394-4FAC-B00F-8CB789DF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003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有效页数更新页数与金额</a:t>
            </a:r>
          </a:p>
        </p:txBody>
      </p:sp>
      <p:sp>
        <p:nvSpPr>
          <p:cNvPr id="22" name="stage-box-5">
            <a:extLst xmlns:a="http://schemas.openxmlformats.org/drawingml/2006/main">
              <a:ext uri="{FF2B5EF4-FFF2-40B4-BE49-F238E27FC236}">
                <a16:creationId xmlns:a16="http://schemas.microsoft.com/office/drawing/2014/main" id="{94BC49CE-4D0B-4038-B7B4-DD848E12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28800"/>
            <a:ext cx="1809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3" name="stage-num-5">
            <a:extLst xmlns:a="http://schemas.openxmlformats.org/drawingml/2006/main">
              <a:ext uri="{FF2B5EF4-FFF2-40B4-BE49-F238E27FC236}">
                <a16:creationId xmlns:a16="http://schemas.microsoft.com/office/drawing/2014/main" id="{2DD90B2B-1D72-4E12-A996-E9A86B29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812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stage-title-5">
            <a:extLst xmlns:a="http://schemas.openxmlformats.org/drawingml/2006/main">
              <a:ext uri="{FF2B5EF4-FFF2-40B4-BE49-F238E27FC236}">
                <a16:creationId xmlns:a16="http://schemas.microsoft.com/office/drawing/2014/main" id="{05FA0B75-14AB-4A59-BB90-3BBBE8EE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003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25" name="stage-body-5">
            <a:extLst xmlns:a="http://schemas.openxmlformats.org/drawingml/2006/main">
              <a:ext uri="{FF2B5EF4-FFF2-40B4-BE49-F238E27FC236}">
                <a16:creationId xmlns:a16="http://schemas.microsoft.com/office/drawing/2014/main" id="{BBFC0CCF-C375-47A2-9A3B-EC45D0EB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003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份数、工艺、配送继续编辑</a:t>
            </a:r>
          </a:p>
        </p:txBody>
      </p:sp>
      <p:graphicFrame>
        <p:nvGraphicFramePr>
          <p:cNvPr id="52" name=""/>
          <p:cNvGraphicFramePr/>
          <p:nvPr/>
        </p:nvGraphicFramePr>
        <p:xfrm>
          <a:off xmlns:a="http://schemas.openxmlformats.org/drawingml/2006/main" x="1238250" y="4457700"/>
          <a:ext xmlns:a="http://schemas.openxmlformats.org/drawingml/2006/main" cx="9715500" cy="1428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4000500"/>
                <a:gridCol w="4000500"/>
              </a:tblGrid>
              <a:tr h="285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文件类型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识别内容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处理策略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页数、第一页尺寸、混合尺寸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可靠则回填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单页、像素、可用 DPI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可靠则回填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DOC/DOCX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文档属性页数、页面尺寸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提示人工确认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损坏/不支持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FAILED/UNSUPPORTED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保留文件，不猜测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1980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0">
            <a:extLst xmlns:a="http://schemas.openxmlformats.org/drawingml/2006/main">
              <a:ext uri="{FF2B5EF4-FFF2-40B4-BE49-F238E27FC236}">
                <a16:creationId xmlns:a16="http://schemas.microsoft.com/office/drawing/2014/main" id="{75900AB0-B71E-4C66-AFFD-7CAC082A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质量验证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93B888CC-38AF-4C88-9F3F-E2BA5E1E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验证结果：用可执行检查支撑结论</a:t>
            </a:r>
          </a:p>
        </p:txBody>
      </p:sp>
      <p:sp>
        <p:nvSpPr>
          <p:cNvPr id="3" name="header-rule-10">
            <a:extLst xmlns:a="http://schemas.openxmlformats.org/drawingml/2006/main">
              <a:ext uri="{FF2B5EF4-FFF2-40B4-BE49-F238E27FC236}">
                <a16:creationId xmlns:a16="http://schemas.microsoft.com/office/drawing/2014/main" id="{17D1EB8A-2375-4461-B6CC-A554E374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3DF4D067-2D2D-4672-9626-DE7B42E9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图文快印 Print MIS | AI辅助软件开发实训</a:t>
            </a:r>
          </a:p>
        </p:txBody>
      </p:sp>
      <p:sp>
        <p:nvSpPr>
          <p:cNvPr id="5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4142309F-9922-4E4B-B46B-C6BA0C10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metric-bg-mvn test">
            <a:extLst xmlns:a="http://schemas.openxmlformats.org/drawingml/2006/main">
              <a:ext uri="{FF2B5EF4-FFF2-40B4-BE49-F238E27FC236}">
                <a16:creationId xmlns:a16="http://schemas.microsoft.com/office/drawing/2014/main" id="{AD224874-E23D-47F9-93B7-D9081325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2571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7" name="metric-accent-mvn test">
            <a:extLst xmlns:a="http://schemas.openxmlformats.org/drawingml/2006/main">
              <a:ext uri="{FF2B5EF4-FFF2-40B4-BE49-F238E27FC236}">
                <a16:creationId xmlns:a16="http://schemas.microsoft.com/office/drawing/2014/main" id="{D32DB64B-6EFD-48C7-BC37-FB6D9F29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stat-mvn test">
            <a:extLst xmlns:a="http://schemas.openxmlformats.org/drawingml/2006/main">
              <a:ext uri="{FF2B5EF4-FFF2-40B4-BE49-F238E27FC236}">
                <a16:creationId xmlns:a16="http://schemas.microsoft.com/office/drawing/2014/main" id="{282D666A-250A-4A33-9910-9A682FD4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211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Test</a:t>
            </a:r>
          </a:p>
        </p:txBody>
      </p:sp>
      <p:sp>
        <p:nvSpPr>
          <p:cNvPr id="9" name="metric-label-mvn test">
            <a:extLst xmlns:a="http://schemas.openxmlformats.org/drawingml/2006/main">
              <a:ext uri="{FF2B5EF4-FFF2-40B4-BE49-F238E27FC236}">
                <a16:creationId xmlns:a16="http://schemas.microsoft.com/office/drawing/2014/main" id="{CD06D7DB-0382-4D96-B059-DCEF248D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mvn test</a:t>
            </a:r>
          </a:p>
        </p:txBody>
      </p:sp>
      <p:sp>
        <p:nvSpPr>
          <p:cNvPr id="10" name="metric-note-mvn test">
            <a:extLst xmlns:a="http://schemas.openxmlformats.org/drawingml/2006/main">
              <a:ext uri="{FF2B5EF4-FFF2-40B4-BE49-F238E27FC236}">
                <a16:creationId xmlns:a16="http://schemas.microsoft.com/office/drawing/2014/main" id="{13389A6B-BA28-414D-92D1-E3E9AFFF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v2 Maven 测试通过，覆盖身份、文件、状态和冻结回归</a:t>
            </a:r>
          </a:p>
        </p:txBody>
      </p:sp>
      <p:sp>
        <p:nvSpPr>
          <p:cNvPr id="11" name="metric-bg-mvn package">
            <a:extLst xmlns:a="http://schemas.openxmlformats.org/drawingml/2006/main">
              <a:ext uri="{FF2B5EF4-FFF2-40B4-BE49-F238E27FC236}">
                <a16:creationId xmlns:a16="http://schemas.microsoft.com/office/drawing/2014/main" id="{D8929667-1079-47E8-AAFA-B242EB48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43100"/>
            <a:ext cx="2571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2" name="metric-accent-mvn package">
            <a:extLst xmlns:a="http://schemas.openxmlformats.org/drawingml/2006/main">
              <a:ext uri="{FF2B5EF4-FFF2-40B4-BE49-F238E27FC236}">
                <a16:creationId xmlns:a16="http://schemas.microsoft.com/office/drawing/2014/main" id="{467A7B7B-355F-494A-980D-5F228F3E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431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stat-mvn package">
            <a:extLst xmlns:a="http://schemas.openxmlformats.org/drawingml/2006/main">
              <a:ext uri="{FF2B5EF4-FFF2-40B4-BE49-F238E27FC236}">
                <a16:creationId xmlns:a16="http://schemas.microsoft.com/office/drawing/2014/main" id="{8A289E1D-1881-4B0A-8227-09D1C77F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52650"/>
            <a:ext cx="211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Build</a:t>
            </a:r>
          </a:p>
        </p:txBody>
      </p:sp>
      <p:sp>
        <p:nvSpPr>
          <p:cNvPr id="14" name="metric-label-mvn package">
            <a:extLst xmlns:a="http://schemas.openxmlformats.org/drawingml/2006/main">
              <a:ext uri="{FF2B5EF4-FFF2-40B4-BE49-F238E27FC236}">
                <a16:creationId xmlns:a16="http://schemas.microsoft.com/office/drawing/2014/main" id="{3EBAFBF0-5AF2-4CBE-B696-D2CDAE8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384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mvn package</a:t>
            </a:r>
          </a:p>
        </p:txBody>
      </p:sp>
      <p:sp>
        <p:nvSpPr>
          <p:cNvPr id="15" name="metric-note-mvn package">
            <a:extLst xmlns:a="http://schemas.openxmlformats.org/drawingml/2006/main">
              <a:ext uri="{FF2B5EF4-FFF2-40B4-BE49-F238E27FC236}">
                <a16:creationId xmlns:a16="http://schemas.microsoft.com/office/drawing/2014/main" id="{FBECFC19-C325-4133-A9CD-F8D614C4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623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应用可打包，运行实例可替换旧 8080 进程</a:t>
            </a:r>
          </a:p>
        </p:txBody>
      </p:sp>
      <p:sp>
        <p:nvSpPr>
          <p:cNvPr id="16" name="metric-bg-node --check">
            <a:extLst xmlns:a="http://schemas.openxmlformats.org/drawingml/2006/main">
              <a:ext uri="{FF2B5EF4-FFF2-40B4-BE49-F238E27FC236}">
                <a16:creationId xmlns:a16="http://schemas.microsoft.com/office/drawing/2014/main" id="{5ED07B7E-5C00-4FC7-B45D-3ECAAEC8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43100"/>
            <a:ext cx="2571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7" name="metric-accent-node --check">
            <a:extLst xmlns:a="http://schemas.openxmlformats.org/drawingml/2006/main">
              <a:ext uri="{FF2B5EF4-FFF2-40B4-BE49-F238E27FC236}">
                <a16:creationId xmlns:a16="http://schemas.microsoft.com/office/drawing/2014/main" id="{37958E0A-BA33-4482-9867-C6C0A64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431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ric-stat-node --check">
            <a:extLst xmlns:a="http://schemas.openxmlformats.org/drawingml/2006/main">
              <a:ext uri="{FF2B5EF4-FFF2-40B4-BE49-F238E27FC236}">
                <a16:creationId xmlns:a16="http://schemas.microsoft.com/office/drawing/2014/main" id="{3C0F3739-8999-4BDC-840D-B003BB66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211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JS</a:t>
            </a:r>
          </a:p>
        </p:txBody>
      </p:sp>
      <p:sp>
        <p:nvSpPr>
          <p:cNvPr id="19" name="metric-label-node --check">
            <a:extLst xmlns:a="http://schemas.openxmlformats.org/drawingml/2006/main">
              <a:ext uri="{FF2B5EF4-FFF2-40B4-BE49-F238E27FC236}">
                <a16:creationId xmlns:a16="http://schemas.microsoft.com/office/drawing/2014/main" id="{543CFE04-5332-4A11-B3F2-C9024B68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384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node --check</a:t>
            </a:r>
          </a:p>
        </p:txBody>
      </p:sp>
      <p:sp>
        <p:nvSpPr>
          <p:cNvPr id="20" name="metric-note-node --check">
            <a:extLst xmlns:a="http://schemas.openxmlformats.org/drawingml/2006/main">
              <a:ext uri="{FF2B5EF4-FFF2-40B4-BE49-F238E27FC236}">
                <a16:creationId xmlns:a16="http://schemas.microsoft.com/office/drawing/2014/main" id="{E1C5B2CE-498F-4B61-AD13-64C65387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623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无构建 ES Module 脚本逐个语法检查</a:t>
            </a:r>
          </a:p>
        </p:txBody>
      </p:sp>
      <p:sp>
        <p:nvSpPr>
          <p:cNvPr id="21" name="metric-bg-CRR --check">
            <a:extLst xmlns:a="http://schemas.openxmlformats.org/drawingml/2006/main">
              <a:ext uri="{FF2B5EF4-FFF2-40B4-BE49-F238E27FC236}">
                <a16:creationId xmlns:a16="http://schemas.microsoft.com/office/drawing/2014/main" id="{F5012F5B-9DB8-4A0C-87B4-8C2D2954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43100"/>
            <a:ext cx="2190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2" name="metric-accent-CRR --check">
            <a:extLst xmlns:a="http://schemas.openxmlformats.org/drawingml/2006/main">
              <a:ext uri="{FF2B5EF4-FFF2-40B4-BE49-F238E27FC236}">
                <a16:creationId xmlns:a16="http://schemas.microsoft.com/office/drawing/2014/main" id="{9FD6F192-CB9D-4EFA-AA56-DE102449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431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etric-stat-CRR --check">
            <a:extLst xmlns:a="http://schemas.openxmlformats.org/drawingml/2006/main">
              <a:ext uri="{FF2B5EF4-FFF2-40B4-BE49-F238E27FC236}">
                <a16:creationId xmlns:a16="http://schemas.microsoft.com/office/drawing/2014/main" id="{AFEA885F-560A-40C0-987E-605A5636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5265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CRR</a:t>
            </a:r>
          </a:p>
        </p:txBody>
      </p:sp>
      <p:sp>
        <p:nvSpPr>
          <p:cNvPr id="24" name="metric-label-CRR --check">
            <a:extLst xmlns:a="http://schemas.openxmlformats.org/drawingml/2006/main">
              <a:ext uri="{FF2B5EF4-FFF2-40B4-BE49-F238E27FC236}">
                <a16:creationId xmlns:a16="http://schemas.microsoft.com/office/drawing/2014/main" id="{BD62B3E3-2859-43FE-B13A-718F580E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384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CRR --check</a:t>
            </a:r>
          </a:p>
        </p:txBody>
      </p:sp>
      <p:sp>
        <p:nvSpPr>
          <p:cNvPr id="25" name="metric-note-CRR --check">
            <a:extLst xmlns:a="http://schemas.openxmlformats.org/drawingml/2006/main">
              <a:ext uri="{FF2B5EF4-FFF2-40B4-BE49-F238E27FC236}">
                <a16:creationId xmlns:a16="http://schemas.microsoft.com/office/drawing/2014/main" id="{D6B5B990-F696-4FEA-8322-71BBC711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62300"/>
            <a:ext cx="1733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CR-001 冻结规则与 v1 主流程回归检查</a:t>
            </a:r>
          </a:p>
        </p:txBody>
      </p:sp>
      <p:sp>
        <p:nvSpPr>
          <p:cNvPr id="26" name="verify-bottom">
            <a:extLst xmlns:a="http://schemas.openxmlformats.org/drawingml/2006/main">
              <a:ext uri="{FF2B5EF4-FFF2-40B4-BE49-F238E27FC236}">
                <a16:creationId xmlns:a16="http://schemas.microsoft.com/office/drawing/2014/main" id="{FC8194A7-4D8C-462B-BFA8-C9C0F97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实际验收还覆盖登录/注册、用户停用、文件预览下载、375px窄屏布局、DOCX 12页识别和订单金额重算。</a:t>
            </a:r>
          </a:p>
        </p:txBody>
      </p:sp>
    </p:spTree>
    <p:extLst>
      <p:ext uri="{BB962C8B-B14F-4D97-AF65-F5344CB8AC3E}">
        <p14:creationId xmlns:p14="http://schemas.microsoft.com/office/powerpoint/2010/main" val="1012231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1">
            <a:extLst xmlns:a="http://schemas.openxmlformats.org/drawingml/2006/main">
              <a:ext uri="{FF2B5EF4-FFF2-40B4-BE49-F238E27FC236}">
                <a16:creationId xmlns:a16="http://schemas.microsoft.com/office/drawing/2014/main" id="{CD3BB9C7-0084-4284-A358-E42E9974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成果清单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79212468-A025-45DB-915C-3E5F0BBD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核心成果：交付物覆盖全链路</a:t>
            </a:r>
          </a:p>
        </p:txBody>
      </p:sp>
      <p:sp>
        <p:nvSpPr>
          <p:cNvPr id="3" name="header-rule-11">
            <a:extLst xmlns:a="http://schemas.openxmlformats.org/drawingml/2006/main">
              <a:ext uri="{FF2B5EF4-FFF2-40B4-BE49-F238E27FC236}">
                <a16:creationId xmlns:a16="http://schemas.microsoft.com/office/drawing/2014/main" id="{FC5C2170-F7DA-4B14-B6A9-B91FF1DA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6D234EFE-D8D2-49F1-9CEC-44521623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图文快印 Print MIS | AI辅助软件开发实训</a:t>
            </a:r>
          </a:p>
        </p:txBody>
      </p:sp>
      <p:sp>
        <p:nvSpPr>
          <p:cNvPr id="5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426CA8EF-00F6-45A9-BC99-A6CE679E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23900" y="1752600"/>
          <a:ext xmlns:a="http://schemas.openxmlformats.org/drawingml/2006/main" cx="10744200" cy="36576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6191250"/>
                <a:gridCol w="2838450"/>
              </a:tblGrid>
              <a:tr h="52251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代表产物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完成状态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访谈记录、A2报告、UML、SRS、验证报告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已形成</a:t>
                      </a:r>
                    </a:p>
                  </a:txBody>
                  <a:tcPr marL="91440" marR="91440" marT="45720" marB="45720"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BL-20260618 / BL-20260624、RTM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已冻结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ASD、MDS、DTS、TLCD、OpenAPI、ADR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已约束</a:t>
                      </a:r>
                    </a:p>
                  </a:txBody>
                  <a:tcPr marL="91440" marR="91440" marT="45720" marB="45720"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printshop-v1、printshop-v2 业务系统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可运行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CR-001、CIA、CRR、ADR-005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已闭环</a:t>
                      </a:r>
                    </a:p>
                  </a:txBody>
                  <a:tcPr marL="91440" marR="91440" marT="45720" marB="45720"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综合文档与批判性反思报告、答辩PPT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已整理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7" name="deliverables-note">
            <a:extLst xmlns:a="http://schemas.openxmlformats.org/drawingml/2006/main">
              <a:ext uri="{FF2B5EF4-FFF2-40B4-BE49-F238E27FC236}">
                <a16:creationId xmlns:a16="http://schemas.microsoft.com/office/drawing/2014/main" id="{0E6E061F-BAA9-4F8E-9F41-3EBF1F39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成果组织原则：源文件和证据路径留在仓库，答辩材料只提炼关键链路和风险判断。</a:t>
            </a:r>
          </a:p>
        </p:txBody>
      </p:sp>
    </p:spTree>
    <p:extLst>
      <p:ext uri="{BB962C8B-B14F-4D97-AF65-F5344CB8AC3E}">
        <p14:creationId xmlns:p14="http://schemas.microsoft.com/office/powerpoint/2010/main" val="6721225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2">
            <a:extLst xmlns:a="http://schemas.openxmlformats.org/drawingml/2006/main">
              <a:ext uri="{FF2B5EF4-FFF2-40B4-BE49-F238E27FC236}">
                <a16:creationId xmlns:a16="http://schemas.microsoft.com/office/drawing/2014/main" id="{3D04C621-4439-4140-A879-ECCFCFA3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批判性反思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B2E53376-B17A-47D2-9416-6496BCB5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反思：AI有效，但证据不能自动成立</a:t>
            </a:r>
          </a:p>
        </p:txBody>
      </p:sp>
      <p:sp>
        <p:nvSpPr>
          <p:cNvPr id="3" name="header-rule-12">
            <a:extLst xmlns:a="http://schemas.openxmlformats.org/drawingml/2006/main">
              <a:ext uri="{FF2B5EF4-FFF2-40B4-BE49-F238E27FC236}">
                <a16:creationId xmlns:a16="http://schemas.microsoft.com/office/drawing/2014/main" id="{8287B83A-7B9F-4D04-B06D-090B8CE5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D48DCB4D-DE18-4DD2-9ACB-BCA173D2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图文快印 Print MIS | AI辅助软件开发实训</a:t>
            </a:r>
          </a:p>
        </p:txBody>
      </p:sp>
      <p:sp>
        <p:nvSpPr>
          <p:cNvPr id="5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E21C467E-C38D-477E-88A7-8E90637C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f-good">
            <a:extLst xmlns:a="http://schemas.openxmlformats.org/drawingml/2006/main">
              <a:ext uri="{FF2B5EF4-FFF2-40B4-BE49-F238E27FC236}">
                <a16:creationId xmlns:a16="http://schemas.microsoft.com/office/drawing/2014/main" id="{338FEB47-A193-46E6-B2A8-D54C1EFB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有效性</a:t>
            </a:r>
          </a:p>
        </p:txBody>
      </p:sp>
      <p:sp>
        <p:nvSpPr>
          <p:cNvPr id="7" name="ref-good-dot-0">
            <a:extLst xmlns:a="http://schemas.openxmlformats.org/drawingml/2006/main">
              <a:ext uri="{FF2B5EF4-FFF2-40B4-BE49-F238E27FC236}">
                <a16:creationId xmlns:a16="http://schemas.microsoft.com/office/drawing/2014/main" id="{C56779A2-8875-4D45-9761-36EE4844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f-good-item-0">
            <a:extLst xmlns:a="http://schemas.openxmlformats.org/drawingml/2006/main">
              <a:ext uri="{FF2B5EF4-FFF2-40B4-BE49-F238E27FC236}">
                <a16:creationId xmlns:a16="http://schemas.microsoft.com/office/drawing/2014/main" id="{8B2ED97C-D409-4919-9836-E88B92EA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结构化访谈能快速补齐角色视角。</a:t>
            </a:r>
          </a:p>
        </p:txBody>
      </p:sp>
      <p:sp>
        <p:nvSpPr>
          <p:cNvPr id="9" name="ref-good-dot-1">
            <a:extLst xmlns:a="http://schemas.openxmlformats.org/drawingml/2006/main">
              <a:ext uri="{FF2B5EF4-FFF2-40B4-BE49-F238E27FC236}">
                <a16:creationId xmlns:a16="http://schemas.microsoft.com/office/drawing/2014/main" id="{0D5C86D7-2D2E-4CCA-AAB5-90EE848F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f-good-item-1">
            <a:extLst xmlns:a="http://schemas.openxmlformats.org/drawingml/2006/main">
              <a:ext uri="{FF2B5EF4-FFF2-40B4-BE49-F238E27FC236}">
                <a16:creationId xmlns:a16="http://schemas.microsoft.com/office/drawing/2014/main" id="{7618FE5D-2BED-4A55-BE63-8961EA43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模式匹配适合发现需求歧义和文档缺口。</a:t>
            </a:r>
          </a:p>
        </p:txBody>
      </p:sp>
      <p:sp>
        <p:nvSpPr>
          <p:cNvPr id="11" name="ref-good-dot-2">
            <a:extLst xmlns:a="http://schemas.openxmlformats.org/drawingml/2006/main">
              <a:ext uri="{FF2B5EF4-FFF2-40B4-BE49-F238E27FC236}">
                <a16:creationId xmlns:a16="http://schemas.microsoft.com/office/drawing/2014/main" id="{FBE9C76D-25D1-465E-AE17-414096FB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f-good-item-2">
            <a:extLst xmlns:a="http://schemas.openxmlformats.org/drawingml/2006/main">
              <a:ext uri="{FF2B5EF4-FFF2-40B4-BE49-F238E27FC236}">
                <a16:creationId xmlns:a16="http://schemas.microsoft.com/office/drawing/2014/main" id="{B2D01CFC-AF2E-46E2-BBF6-24D48219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代码脚手架和回归脚本提升重复任务效率。</a:t>
            </a:r>
          </a:p>
        </p:txBody>
      </p:sp>
      <p:sp>
        <p:nvSpPr>
          <p:cNvPr id="13" name="ref-bad">
            <a:extLst xmlns:a="http://schemas.openxmlformats.org/drawingml/2006/main">
              <a:ext uri="{FF2B5EF4-FFF2-40B4-BE49-F238E27FC236}">
                <a16:creationId xmlns:a16="http://schemas.microsoft.com/office/drawing/2014/main" id="{7A84E439-BC30-4082-A698-C1151065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56A2E"/>
                </a:solidFill>
                <a:latin typeface="Microsoft YaHei"/>
                <a:ea typeface="Microsoft YaHei"/>
                <a:cs typeface="Microsoft YaHei"/>
              </a:rPr>
              <a:t>局限性</a:t>
            </a:r>
          </a:p>
        </p:txBody>
      </p:sp>
      <p:sp>
        <p:nvSpPr>
          <p:cNvPr id="14" name="ref-bad-dot-0">
            <a:extLst xmlns:a="http://schemas.openxmlformats.org/drawingml/2006/main">
              <a:ext uri="{FF2B5EF4-FFF2-40B4-BE49-F238E27FC236}">
                <a16:creationId xmlns:a16="http://schemas.microsoft.com/office/drawing/2014/main" id="{C7693CFF-4F1B-41DC-A5EA-84ACEC2D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62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f-bad-item-0">
            <a:extLst xmlns:a="http://schemas.openxmlformats.org/drawingml/2006/main">
              <a:ext uri="{FF2B5EF4-FFF2-40B4-BE49-F238E27FC236}">
                <a16:creationId xmlns:a16="http://schemas.microsoft.com/office/drawing/2014/main" id="{FC9F6B46-A7B7-4D7B-BC7B-2CAFA36D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领域知识不足时，结论仍需人工复核。</a:t>
            </a:r>
          </a:p>
        </p:txBody>
      </p:sp>
      <p:sp>
        <p:nvSpPr>
          <p:cNvPr id="16" name="ref-bad-dot-1">
            <a:extLst xmlns:a="http://schemas.openxmlformats.org/drawingml/2006/main">
              <a:ext uri="{FF2B5EF4-FFF2-40B4-BE49-F238E27FC236}">
                <a16:creationId xmlns:a16="http://schemas.microsoft.com/office/drawing/2014/main" id="{FC368993-FA53-447A-AFD1-D90934D2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57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f-bad-item-1">
            <a:extLst xmlns:a="http://schemas.openxmlformats.org/drawingml/2006/main">
              <a:ext uri="{FF2B5EF4-FFF2-40B4-BE49-F238E27FC236}">
                <a16:creationId xmlns:a16="http://schemas.microsoft.com/office/drawing/2014/main" id="{DB541353-1DBE-40A3-A497-F34CCD0F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908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上下游产物会漂移，索引与实现可能不同步。</a:t>
            </a:r>
          </a:p>
        </p:txBody>
      </p:sp>
      <p:sp>
        <p:nvSpPr>
          <p:cNvPr id="18" name="ref-bad-dot-2">
            <a:extLst xmlns:a="http://schemas.openxmlformats.org/drawingml/2006/main">
              <a:ext uri="{FF2B5EF4-FFF2-40B4-BE49-F238E27FC236}">
                <a16:creationId xmlns:a16="http://schemas.microsoft.com/office/drawing/2014/main" id="{413F9EE8-8491-4116-9F5E-8854B088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52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f-bad-item-2">
            <a:extLst xmlns:a="http://schemas.openxmlformats.org/drawingml/2006/main">
              <a:ext uri="{FF2B5EF4-FFF2-40B4-BE49-F238E27FC236}">
                <a16:creationId xmlns:a16="http://schemas.microsoft.com/office/drawing/2014/main" id="{014B03E1-63B0-42DC-AF49-F4570B66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861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RCR/CRR 会受检测边界和字符串误报影响。</a:t>
            </a:r>
          </a:p>
        </p:txBody>
      </p:sp>
      <p:sp>
        <p:nvSpPr>
          <p:cNvPr id="20" name="ref-center">
            <a:extLst xmlns:a="http://schemas.openxmlformats.org/drawingml/2006/main">
              <a:ext uri="{FF2B5EF4-FFF2-40B4-BE49-F238E27FC236}">
                <a16:creationId xmlns:a16="http://schemas.microsoft.com/office/drawing/2014/main" id="{78A2E882-808E-4BB9-93A2-C66A27C8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053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f-center-text">
            <a:extLst xmlns:a="http://schemas.openxmlformats.org/drawingml/2006/main">
              <a:ext uri="{FF2B5EF4-FFF2-40B4-BE49-F238E27FC236}">
                <a16:creationId xmlns:a16="http://schemas.microsoft.com/office/drawing/2014/main" id="{DB72699D-AFF3-4FBA-B5DD-F880C829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33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结论：AI产物必须由证据、测试和人工判断共同验证</a:t>
            </a:r>
          </a:p>
        </p:txBody>
      </p:sp>
    </p:spTree>
    <p:extLst>
      <p:ext uri="{BB962C8B-B14F-4D97-AF65-F5344CB8AC3E}">
        <p14:creationId xmlns:p14="http://schemas.microsoft.com/office/powerpoint/2010/main" val="14179302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3">
            <a:extLst xmlns:a="http://schemas.openxmlformats.org/drawingml/2006/main">
              <a:ext uri="{FF2B5EF4-FFF2-40B4-BE49-F238E27FC236}">
                <a16:creationId xmlns:a16="http://schemas.microsoft.com/office/drawing/2014/main" id="{1BA1989A-4215-4991-9EE6-EDC97843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后续优化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69E1E533-DF7B-4160-B260-0FE62714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改进方向：把可信度前移</a:t>
            </a:r>
          </a:p>
        </p:txBody>
      </p:sp>
      <p:sp>
        <p:nvSpPr>
          <p:cNvPr id="3" name="header-rule-13">
            <a:extLst xmlns:a="http://schemas.openxmlformats.org/drawingml/2006/main">
              <a:ext uri="{FF2B5EF4-FFF2-40B4-BE49-F238E27FC236}">
                <a16:creationId xmlns:a16="http://schemas.microsoft.com/office/drawing/2014/main" id="{D9FF9E7B-E26E-4FF0-A16C-750D0CAB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86177269-5152-4049-A265-E007F943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图文快印 Print MIS | AI辅助软件开发实训</a:t>
            </a:r>
          </a:p>
        </p:txBody>
      </p:sp>
      <p:sp>
        <p:nvSpPr>
          <p:cNvPr id="5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5D364608-1A27-40BC-AFA5-557D50AB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improve-box-0">
            <a:extLst xmlns:a="http://schemas.openxmlformats.org/drawingml/2006/main">
              <a:ext uri="{FF2B5EF4-FFF2-40B4-BE49-F238E27FC236}">
                <a16:creationId xmlns:a16="http://schemas.microsoft.com/office/drawing/2014/main" id="{AB5ECF8B-03F3-40CE-9714-1F4831C0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3048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7" name="improve-accent-0">
            <a:extLst xmlns:a="http://schemas.openxmlformats.org/drawingml/2006/main">
              <a:ext uri="{FF2B5EF4-FFF2-40B4-BE49-F238E27FC236}">
                <a16:creationId xmlns:a16="http://schemas.microsoft.com/office/drawing/2014/main" id="{736C1E4F-E0DE-4612-AB00-CD7D2168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mprove-title-0">
            <a:extLst xmlns:a="http://schemas.openxmlformats.org/drawingml/2006/main">
              <a:ext uri="{FF2B5EF4-FFF2-40B4-BE49-F238E27FC236}">
                <a16:creationId xmlns:a16="http://schemas.microsoft.com/office/drawing/2014/main" id="{66095222-FDF1-44F1-852B-4F8D8EBF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证据优先</a:t>
            </a:r>
          </a:p>
        </p:txBody>
      </p:sp>
      <p:sp>
        <p:nvSpPr>
          <p:cNvPr id="9" name="improve-desc-0">
            <a:extLst xmlns:a="http://schemas.openxmlformats.org/drawingml/2006/main">
              <a:ext uri="{FF2B5EF4-FFF2-40B4-BE49-F238E27FC236}">
                <a16:creationId xmlns:a16="http://schemas.microsoft.com/office/drawing/2014/main" id="{4AB812A2-A314-4FD3-A12B-D990A104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先固化事实来源，再让AI生成总结</a:t>
            </a:r>
          </a:p>
        </p:txBody>
      </p:sp>
      <p:sp>
        <p:nvSpPr>
          <p:cNvPr id="10" name="improve-box-1">
            <a:extLst xmlns:a="http://schemas.openxmlformats.org/drawingml/2006/main">
              <a:ext uri="{FF2B5EF4-FFF2-40B4-BE49-F238E27FC236}">
                <a16:creationId xmlns:a16="http://schemas.microsoft.com/office/drawing/2014/main" id="{0482165F-BDAE-4CCF-9658-3AE54ACA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3048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1" name="improve-accent-1">
            <a:extLst xmlns:a="http://schemas.openxmlformats.org/drawingml/2006/main">
              <a:ext uri="{FF2B5EF4-FFF2-40B4-BE49-F238E27FC236}">
                <a16:creationId xmlns:a16="http://schemas.microsoft.com/office/drawing/2014/main" id="{A71E9632-E090-4D4C-B362-03F04CF7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mprove-title-1">
            <a:extLst xmlns:a="http://schemas.openxmlformats.org/drawingml/2006/main">
              <a:ext uri="{FF2B5EF4-FFF2-40B4-BE49-F238E27FC236}">
                <a16:creationId xmlns:a16="http://schemas.microsoft.com/office/drawing/2014/main" id="{C008B3C2-5974-4131-9C78-C0796B79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契约测试前置</a:t>
            </a:r>
          </a:p>
        </p:txBody>
      </p:sp>
      <p:sp>
        <p:nvSpPr>
          <p:cNvPr id="13" name="improve-desc-1">
            <a:extLst xmlns:a="http://schemas.openxmlformats.org/drawingml/2006/main">
              <a:ext uri="{FF2B5EF4-FFF2-40B4-BE49-F238E27FC236}">
                <a16:creationId xmlns:a16="http://schemas.microsoft.com/office/drawing/2014/main" id="{F203943F-489C-4758-AC90-2EFC47F5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908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OpenAPI定义形状，测试定义行为</a:t>
            </a:r>
          </a:p>
        </p:txBody>
      </p:sp>
      <p:sp>
        <p:nvSpPr>
          <p:cNvPr id="14" name="improve-box-2">
            <a:extLst xmlns:a="http://schemas.openxmlformats.org/drawingml/2006/main">
              <a:ext uri="{FF2B5EF4-FFF2-40B4-BE49-F238E27FC236}">
                <a16:creationId xmlns:a16="http://schemas.microsoft.com/office/drawing/2014/main" id="{976B64A5-02CB-4118-A36B-92F0B2B8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24050"/>
            <a:ext cx="3048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5" name="improve-accent-2">
            <a:extLst xmlns:a="http://schemas.openxmlformats.org/drawingml/2006/main">
              <a:ext uri="{FF2B5EF4-FFF2-40B4-BE49-F238E27FC236}">
                <a16:creationId xmlns:a16="http://schemas.microsoft.com/office/drawing/2014/main" id="{691C5AD8-2A0B-4B78-A58B-5ED9EBCE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2405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mprove-title-2">
            <a:extLst xmlns:a="http://schemas.openxmlformats.org/drawingml/2006/main">
              <a:ext uri="{FF2B5EF4-FFF2-40B4-BE49-F238E27FC236}">
                <a16:creationId xmlns:a16="http://schemas.microsoft.com/office/drawing/2014/main" id="{AB546E44-B3DC-45F6-B669-199D37C7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人工门禁</a:t>
            </a:r>
          </a:p>
        </p:txBody>
      </p:sp>
      <p:sp>
        <p:nvSpPr>
          <p:cNvPr id="17" name="improve-desc-2">
            <a:extLst xmlns:a="http://schemas.openxmlformats.org/drawingml/2006/main">
              <a:ext uri="{FF2B5EF4-FFF2-40B4-BE49-F238E27FC236}">
                <a16:creationId xmlns:a16="http://schemas.microsoft.com/office/drawing/2014/main" id="{F59B79CA-A8D6-488F-84CD-2604C668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908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关键业务规则、风险接受、基线批准必须人工确认</a:t>
            </a:r>
          </a:p>
        </p:txBody>
      </p:sp>
      <p:sp>
        <p:nvSpPr>
          <p:cNvPr id="18" name="improve-box-3">
            <a:extLst xmlns:a="http://schemas.openxmlformats.org/drawingml/2006/main">
              <a:ext uri="{FF2B5EF4-FFF2-40B4-BE49-F238E27FC236}">
                <a16:creationId xmlns:a16="http://schemas.microsoft.com/office/drawing/2014/main" id="{7F018C0C-986A-48F9-BF7A-AF3F7378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3048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9" name="improve-accent-3">
            <a:extLst xmlns:a="http://schemas.openxmlformats.org/drawingml/2006/main">
              <a:ext uri="{FF2B5EF4-FFF2-40B4-BE49-F238E27FC236}">
                <a16:creationId xmlns:a16="http://schemas.microsoft.com/office/drawing/2014/main" id="{7DC99766-ADF2-4DDA-8CE2-F7A7559A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mprove-title-3">
            <a:extLst xmlns:a="http://schemas.openxmlformats.org/drawingml/2006/main">
              <a:ext uri="{FF2B5EF4-FFF2-40B4-BE49-F238E27FC236}">
                <a16:creationId xmlns:a16="http://schemas.microsoft.com/office/drawing/2014/main" id="{DC7B5201-972D-4E95-BE1E-153B3AE6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更细提示词</a:t>
            </a:r>
          </a:p>
        </p:txBody>
      </p:sp>
      <p:sp>
        <p:nvSpPr>
          <p:cNvPr id="21" name="improve-desc-3">
            <a:extLst xmlns:a="http://schemas.openxmlformats.org/drawingml/2006/main">
              <a:ext uri="{FF2B5EF4-FFF2-40B4-BE49-F238E27FC236}">
                <a16:creationId xmlns:a16="http://schemas.microsoft.com/office/drawing/2014/main" id="{749E40B7-7EC2-4B28-B06C-B79D8784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按场景拆分目标，降低上下文漂移</a:t>
            </a:r>
          </a:p>
        </p:txBody>
      </p:sp>
      <p:sp>
        <p:nvSpPr>
          <p:cNvPr id="22" name="improve-box-4">
            <a:extLst xmlns:a="http://schemas.openxmlformats.org/drawingml/2006/main">
              <a:ext uri="{FF2B5EF4-FFF2-40B4-BE49-F238E27FC236}">
                <a16:creationId xmlns:a16="http://schemas.microsoft.com/office/drawing/2014/main" id="{4845B23C-7233-43BD-AA1B-BEE1B9E4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57650"/>
            <a:ext cx="3048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3" name="improve-accent-4">
            <a:extLst xmlns:a="http://schemas.openxmlformats.org/drawingml/2006/main">
              <a:ext uri="{FF2B5EF4-FFF2-40B4-BE49-F238E27FC236}">
                <a16:creationId xmlns:a16="http://schemas.microsoft.com/office/drawing/2014/main" id="{CCD36112-6CF5-454F-BE21-1F21B796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5765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mprove-title-4">
            <a:extLst xmlns:a="http://schemas.openxmlformats.org/drawingml/2006/main">
              <a:ext uri="{FF2B5EF4-FFF2-40B4-BE49-F238E27FC236}">
                <a16:creationId xmlns:a16="http://schemas.microsoft.com/office/drawing/2014/main" id="{C48F4D98-FA9F-477B-B023-1D0CCACC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自动化验收</a:t>
            </a:r>
          </a:p>
        </p:txBody>
      </p:sp>
      <p:sp>
        <p:nvSpPr>
          <p:cNvPr id="25" name="improve-desc-4">
            <a:extLst xmlns:a="http://schemas.openxmlformats.org/drawingml/2006/main">
              <a:ext uri="{FF2B5EF4-FFF2-40B4-BE49-F238E27FC236}">
                <a16:creationId xmlns:a16="http://schemas.microsoft.com/office/drawing/2014/main" id="{0EBFA4B7-F528-4068-B8CC-09C3C443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浏览器回归覆盖主要角色和窄屏布局</a:t>
            </a:r>
          </a:p>
        </p:txBody>
      </p:sp>
      <p:sp>
        <p:nvSpPr>
          <p:cNvPr id="26" name="improve-box-5">
            <a:extLst xmlns:a="http://schemas.openxmlformats.org/drawingml/2006/main">
              <a:ext uri="{FF2B5EF4-FFF2-40B4-BE49-F238E27FC236}">
                <a16:creationId xmlns:a16="http://schemas.microsoft.com/office/drawing/2014/main" id="{FE965215-8750-4D3E-A195-7A591E02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57650"/>
            <a:ext cx="3048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7" name="improve-accent-5">
            <a:extLst xmlns:a="http://schemas.openxmlformats.org/drawingml/2006/main">
              <a:ext uri="{FF2B5EF4-FFF2-40B4-BE49-F238E27FC236}">
                <a16:creationId xmlns:a16="http://schemas.microsoft.com/office/drawing/2014/main" id="{0C0295F5-2388-4963-84AD-AFB40FBA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5765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improve-title-5">
            <a:extLst xmlns:a="http://schemas.openxmlformats.org/drawingml/2006/main">
              <a:ext uri="{FF2B5EF4-FFF2-40B4-BE49-F238E27FC236}">
                <a16:creationId xmlns:a16="http://schemas.microsoft.com/office/drawing/2014/main" id="{D336956B-D134-408C-AAAF-E4F12661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24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非功能测试</a:t>
            </a:r>
          </a:p>
        </p:txBody>
      </p:sp>
      <p:sp>
        <p:nvSpPr>
          <p:cNvPr id="29" name="improve-desc-5">
            <a:extLst xmlns:a="http://schemas.openxmlformats.org/drawingml/2006/main">
              <a:ext uri="{FF2B5EF4-FFF2-40B4-BE49-F238E27FC236}">
                <a16:creationId xmlns:a16="http://schemas.microsoft.com/office/drawing/2014/main" id="{56ECA407-607B-4C7B-81CA-50FF37B8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244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补充安全、并发、恶意文件和长时间运行验证</a:t>
            </a:r>
          </a:p>
        </p:txBody>
      </p:sp>
    </p:spTree>
    <p:extLst>
      <p:ext uri="{BB962C8B-B14F-4D97-AF65-F5344CB8AC3E}">
        <p14:creationId xmlns:p14="http://schemas.microsoft.com/office/powerpoint/2010/main" val="4404991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4">
            <a:extLst xmlns:a="http://schemas.openxmlformats.org/drawingml/2006/main">
              <a:ext uri="{FF2B5EF4-FFF2-40B4-BE49-F238E27FC236}">
                <a16:creationId xmlns:a16="http://schemas.microsoft.com/office/drawing/2014/main" id="{2F109B8C-3481-4331-A67D-644737FA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答辩收束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E680E3ED-ED99-4B72-AB5D-75995D81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总结：方法、系统与反思共同完成</a:t>
            </a:r>
          </a:p>
        </p:txBody>
      </p:sp>
      <p:sp>
        <p:nvSpPr>
          <p:cNvPr id="3" name="header-rule-14">
            <a:extLst xmlns:a="http://schemas.openxmlformats.org/drawingml/2006/main">
              <a:ext uri="{FF2B5EF4-FFF2-40B4-BE49-F238E27FC236}">
                <a16:creationId xmlns:a16="http://schemas.microsoft.com/office/drawing/2014/main" id="{88BB43A7-9FCF-49D2-BF0B-BFCF55E9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9111FBF7-5754-4013-A5D1-2D449383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图文快印 Print MIS | AI辅助软件开发实训</a:t>
            </a:r>
          </a:p>
        </p:txBody>
      </p:sp>
      <p:sp>
        <p:nvSpPr>
          <p:cNvPr id="5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4B04C593-9055-440B-A920-F9FAA17C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summary-main">
            <a:extLst xmlns:a="http://schemas.openxmlformats.org/drawingml/2006/main">
              <a:ext uri="{FF2B5EF4-FFF2-40B4-BE49-F238E27FC236}">
                <a16:creationId xmlns:a16="http://schemas.microsoft.com/office/drawing/2014/main" id="{7162C421-CF40-4E7D-AF98-69B71B00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本项目的价值不只在于生成了 Print MIS，而在于把 AI 辅助软件开发放进可追溯、可验证、可反思的工程流程。</a:t>
            </a:r>
          </a:p>
        </p:txBody>
      </p:sp>
      <p:sp>
        <p:nvSpPr>
          <p:cNvPr id="7" name="metric-bg-方法">
            <a:extLst xmlns:a="http://schemas.openxmlformats.org/drawingml/2006/main">
              <a:ext uri="{FF2B5EF4-FFF2-40B4-BE49-F238E27FC236}">
                <a16:creationId xmlns:a16="http://schemas.microsoft.com/office/drawing/2014/main" id="{F46114C2-483F-41BC-9A13-5B9DF1C2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8" name="metric-accent-方法">
            <a:extLst xmlns:a="http://schemas.openxmlformats.org/drawingml/2006/main">
              <a:ext uri="{FF2B5EF4-FFF2-40B4-BE49-F238E27FC236}">
                <a16:creationId xmlns:a16="http://schemas.microsoft.com/office/drawing/2014/main" id="{BAC81A79-7928-4CE6-A1FD-FC8D1E4C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stat-方法">
            <a:extLst xmlns:a="http://schemas.openxmlformats.org/drawingml/2006/main">
              <a:ext uri="{FF2B5EF4-FFF2-40B4-BE49-F238E27FC236}">
                <a16:creationId xmlns:a16="http://schemas.microsoft.com/office/drawing/2014/main" id="{83CF9771-DEA9-4BF8-BC25-934350FF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A1-A6</a:t>
            </a:r>
          </a:p>
        </p:txBody>
      </p:sp>
      <p:sp>
        <p:nvSpPr>
          <p:cNvPr id="10" name="metric-label-方法">
            <a:extLst xmlns:a="http://schemas.openxmlformats.org/drawingml/2006/main">
              <a:ext uri="{FF2B5EF4-FFF2-40B4-BE49-F238E27FC236}">
                <a16:creationId xmlns:a16="http://schemas.microsoft.com/office/drawing/2014/main" id="{767A3A28-50C4-498C-B6C9-407A3584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1" name="metric-note-方法">
            <a:extLst xmlns:a="http://schemas.openxmlformats.org/drawingml/2006/main">
              <a:ext uri="{FF2B5EF4-FFF2-40B4-BE49-F238E27FC236}">
                <a16:creationId xmlns:a16="http://schemas.microsoft.com/office/drawing/2014/main" id="{CBBAA34E-48FB-4D82-AF95-F48BAE67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577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从访谈到基线，形成可追溯资产</a:t>
            </a:r>
          </a:p>
        </p:txBody>
      </p:sp>
      <p:sp>
        <p:nvSpPr>
          <p:cNvPr id="12" name="metric-bg-系统">
            <a:extLst xmlns:a="http://schemas.openxmlformats.org/drawingml/2006/main">
              <a:ext uri="{FF2B5EF4-FFF2-40B4-BE49-F238E27FC236}">
                <a16:creationId xmlns:a16="http://schemas.microsoft.com/office/drawing/2014/main" id="{B708437A-BE49-4AA1-94C7-5161C20A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7660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3" name="metric-accent-系统">
            <a:extLst xmlns:a="http://schemas.openxmlformats.org/drawingml/2006/main">
              <a:ext uri="{FF2B5EF4-FFF2-40B4-BE49-F238E27FC236}">
                <a16:creationId xmlns:a16="http://schemas.microsoft.com/office/drawing/2014/main" id="{34CD1CF6-139C-4C23-8F22-7E2DB97B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766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stat-系统">
            <a:extLst xmlns:a="http://schemas.openxmlformats.org/drawingml/2006/main">
              <a:ext uri="{FF2B5EF4-FFF2-40B4-BE49-F238E27FC236}">
                <a16:creationId xmlns:a16="http://schemas.microsoft.com/office/drawing/2014/main" id="{156719A7-D8D0-484E-B255-554C75C5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861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v1 + v2</a:t>
            </a:r>
          </a:p>
        </p:txBody>
      </p:sp>
      <p:sp>
        <p:nvSpPr>
          <p:cNvPr id="15" name="metric-label-系统">
            <a:extLst xmlns:a="http://schemas.openxmlformats.org/drawingml/2006/main">
              <a:ext uri="{FF2B5EF4-FFF2-40B4-BE49-F238E27FC236}">
                <a16:creationId xmlns:a16="http://schemas.microsoft.com/office/drawing/2014/main" id="{6516E598-356F-48A8-A21D-406A5507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338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16" name="metric-note-系统">
            <a:extLst xmlns:a="http://schemas.openxmlformats.org/drawingml/2006/main">
              <a:ext uri="{FF2B5EF4-FFF2-40B4-BE49-F238E27FC236}">
                <a16:creationId xmlns:a16="http://schemas.microsoft.com/office/drawing/2014/main" id="{2D510EAF-AA19-4BF3-B1CB-569B8D3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577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业务闭环、变更冻结和文件解析</a:t>
            </a:r>
          </a:p>
        </p:txBody>
      </p:sp>
      <p:sp>
        <p:nvSpPr>
          <p:cNvPr id="17" name="metric-bg-验证">
            <a:extLst xmlns:a="http://schemas.openxmlformats.org/drawingml/2006/main">
              <a:ext uri="{FF2B5EF4-FFF2-40B4-BE49-F238E27FC236}">
                <a16:creationId xmlns:a16="http://schemas.microsoft.com/office/drawing/2014/main" id="{149D2613-BCB1-4C44-A4DF-BC432822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660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8" name="metric-accent-验证">
            <a:extLst xmlns:a="http://schemas.openxmlformats.org/drawingml/2006/main">
              <a:ext uri="{FF2B5EF4-FFF2-40B4-BE49-F238E27FC236}">
                <a16:creationId xmlns:a16="http://schemas.microsoft.com/office/drawing/2014/main" id="{54726CCA-7569-4C49-8DD3-A1166A66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66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tric-stat-验证">
            <a:extLst xmlns:a="http://schemas.openxmlformats.org/drawingml/2006/main">
              <a:ext uri="{FF2B5EF4-FFF2-40B4-BE49-F238E27FC236}">
                <a16:creationId xmlns:a16="http://schemas.microsoft.com/office/drawing/2014/main" id="{AD4AF142-1C3F-489C-B089-677D231B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测试 + 反思</a:t>
            </a:r>
          </a:p>
        </p:txBody>
      </p:sp>
      <p:sp>
        <p:nvSpPr>
          <p:cNvPr id="20" name="metric-label-验证">
            <a:extLst xmlns:a="http://schemas.openxmlformats.org/drawingml/2006/main">
              <a:ext uri="{FF2B5EF4-FFF2-40B4-BE49-F238E27FC236}">
                <a16:creationId xmlns:a16="http://schemas.microsoft.com/office/drawing/2014/main" id="{F4C8F2F6-849D-4EAD-A45C-347E5707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1" name="metric-note-验证">
            <a:extLst xmlns:a="http://schemas.openxmlformats.org/drawingml/2006/main">
              <a:ext uri="{FF2B5EF4-FFF2-40B4-BE49-F238E27FC236}">
                <a16:creationId xmlns:a16="http://schemas.microsoft.com/office/drawing/2014/main" id="{2ADD281C-00CB-4693-AFA2-903AE873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577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自动检查与人工判断共同约束AI输出</a:t>
            </a:r>
          </a:p>
        </p:txBody>
      </p:sp>
      <p:sp>
        <p:nvSpPr>
          <p:cNvPr id="22" name="summary-thanks">
            <a:extLst xmlns:a="http://schemas.openxmlformats.org/drawingml/2006/main">
              <a:ext uri="{FF2B5EF4-FFF2-40B4-BE49-F238E27FC236}">
                <a16:creationId xmlns:a16="http://schemas.microsoft.com/office/drawing/2014/main" id="{E273C8CD-771F-4E37-A2D6-46A3C1E2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197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7D68"/>
                </a:solidFill>
                <a:latin typeface="Microsoft YaHei"/>
                <a:ea typeface="Microsoft YaHei"/>
                <a:cs typeface="Microsoft YaHei"/>
              </a:rPr>
              <a:t>谢谢各位老师，请批评指正。</a:t>
            </a:r>
          </a:p>
        </p:txBody>
      </p:sp>
    </p:spTree>
    <p:extLst>
      <p:ext uri="{BB962C8B-B14F-4D97-AF65-F5344CB8AC3E}">
        <p14:creationId xmlns:p14="http://schemas.microsoft.com/office/powerpoint/2010/main" val="4020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2026-06-30T01:41:26.8660000Z</dcterms:created>
  <dcterms:modified xsi:type="dcterms:W3CDTF">2026-06-30T01:41:26.8660000Z</dcterms:modified>
</coreProperties>
</file>